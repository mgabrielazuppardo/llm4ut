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5143500" cx="9144000"/>
  <p:notesSz cx="6858000" cy="9144000"/>
  <p:embeddedFontLst>
    <p:embeddedFont>
      <p:font typeface="Roboto Medium"/>
      <p:regular r:id="rId39"/>
      <p:bold r:id="rId40"/>
      <p:italic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Roboto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56844D-A210-42BF-9566-60BE673394F7}">
  <a:tblStyle styleId="{2256844D-A210-42BF-9566-60BE673394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RobotoLight-bold.fntdata"/><Relationship Id="rId47" Type="http://schemas.openxmlformats.org/officeDocument/2006/relationships/font" Target="fonts/RobotoLight-regular.fntdata"/><Relationship Id="rId49" Type="http://schemas.openxmlformats.org/officeDocument/2006/relationships/font" Target="fonts/RobotoLigh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font" Target="fonts/RobotoMedium-regular.fntdata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0" Type="http://schemas.openxmlformats.org/officeDocument/2006/relationships/font" Target="fonts/RobotoLight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6a16f0d6_0_26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d6a16f0d6_0_26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d6a16f0d6_0_26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d6a16f0d6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ed6a16f0d6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d6a16f0d6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6a16f0d6_0_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ed6a16f0d6_0_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d6a16f0d6_0_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6a16f0d6_0_12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d6a16f0d6_0_12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d6a16f0d6_0_12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6a16f0d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d6a16f0d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710a236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d710a236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d710a2367_0_8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d710a2367_0_8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d710a2367_0_8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d7ac3073f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ed7ac3073f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d7ac3073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d6a16f0d6_0_29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d6a16f0d6_0_29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d6a16f0d6_0_29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395689d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c395689d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d7ac3073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d7ac3073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c395689d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c395689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c395689d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c395689d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7ac3073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7ac3073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d7ac3073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d7ac3073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d7ac3073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d7ac3073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d7ac3073f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ed7ac3073f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d7ac3073f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d7ac3073f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d7ac3073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d7ac3073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d7ac3073f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ed7ac3073f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d7ac3073f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d7ac3073f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d7ac3073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d7ac3073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d7ac3073f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ed7ac3073f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c395689db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c395689db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c395689db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ec395689db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d7ac3073f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ed7ac3073f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aa603684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eaa603684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ed07dc4f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ed07dc4f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88fb52b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a88fb52b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88fb52b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a88fb52b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E:\05.03.18 bkp\Documentos\João Victor\UFPE\CIn\Redesign logo CIn\Logotipo CIn-UFPE - Versões\CIn + UFPE\PNG\Horzontal Monocromático Branco - Logotipo CIn + UFPE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1693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n" type="title">
  <p:cSld name="TITLE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1" y="4585700"/>
            <a:ext cx="1022549" cy="3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389600"/>
            <a:ext cx="5009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abs/2406.18181" TargetMode="External"/><Relationship Id="rId4" Type="http://schemas.openxmlformats.org/officeDocument/2006/relationships/hyperlink" Target="https://github.com/MGabrielaZuppardo/LLM4U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rxiv.org/abs/2406.18181" TargetMode="External"/><Relationship Id="rId4" Type="http://schemas.openxmlformats.org/officeDocument/2006/relationships/hyperlink" Target="https://github.com/MGabrielaZuppardo/LLM4U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arxiv.org/abs/2507.06762" TargetMode="External"/><Relationship Id="rId4" Type="http://schemas.openxmlformats.org/officeDocument/2006/relationships/hyperlink" Target="https://github.com/MGabrielaZuppardo/LLM4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/>
          <p:nvPr/>
        </p:nvSpPr>
        <p:spPr>
          <a:xfrm>
            <a:off x="7063740" y="-1234440"/>
            <a:ext cx="3429000" cy="3429000"/>
          </a:xfrm>
          <a:prstGeom prst="ellipse">
            <a:avLst/>
          </a:prstGeom>
          <a:solidFill>
            <a:srgbClr val="2A387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8"/>
          <p:cNvSpPr/>
          <p:nvPr/>
        </p:nvSpPr>
        <p:spPr>
          <a:xfrm>
            <a:off x="480060" y="1097280"/>
            <a:ext cx="78867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 the Evaluation of Large Language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Models in Unit Test Generation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8"/>
          <p:cNvSpPr/>
          <p:nvPr/>
        </p:nvSpPr>
        <p:spPr>
          <a:xfrm>
            <a:off x="480060" y="2416629"/>
            <a:ext cx="7886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(Yang et al.)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8"/>
          <p:cNvSpPr/>
          <p:nvPr/>
        </p:nvSpPr>
        <p:spPr>
          <a:xfrm>
            <a:off x="480050" y="3412007"/>
            <a:ext cx="8181600" cy="856800"/>
          </a:xfrm>
          <a:prstGeom prst="rect">
            <a:avLst/>
          </a:prstGeom>
          <a:solidFill>
            <a:srgbClr val="1820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8"/>
          <p:cNvSpPr/>
          <p:nvPr/>
        </p:nvSpPr>
        <p:spPr>
          <a:xfrm>
            <a:off x="576925" y="3527507"/>
            <a:ext cx="7543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Letícia Rose de Santana Lopes - lrsl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 Gabriela Alves Zuppardo - mgaz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Thiago Henrique Lopes da Silva - thls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8"/>
          <p:cNvPicPr preferRelativeResize="0"/>
          <p:nvPr/>
        </p:nvPicPr>
        <p:blipFill rotWithShape="1">
          <a:blip r:embed="rId3">
            <a:alphaModFix/>
          </a:blip>
          <a:srcRect b="17719" l="-779456" r="746830" t="-50345"/>
          <a:stretch/>
        </p:blipFill>
        <p:spPr>
          <a:xfrm>
            <a:off x="1520473" y="4160350"/>
            <a:ext cx="1166551" cy="98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55" y="4160352"/>
            <a:ext cx="3295442" cy="98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/>
          <p:nvPr/>
        </p:nvSpPr>
        <p:spPr>
          <a:xfrm>
            <a:off x="480060" y="342900"/>
            <a:ext cx="5486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Motivação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9"/>
          <p:cNvSpPr/>
          <p:nvPr/>
        </p:nvSpPr>
        <p:spPr>
          <a:xfrm>
            <a:off x="480060" y="1028700"/>
            <a:ext cx="8181600" cy="891600"/>
          </a:xfrm>
          <a:prstGeom prst="roundRect">
            <a:avLst>
              <a:gd fmla="val 615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9"/>
          <p:cNvSpPr/>
          <p:nvPr/>
        </p:nvSpPr>
        <p:spPr>
          <a:xfrm>
            <a:off x="685800" y="1165860"/>
            <a:ext cx="617100" cy="6171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88" y="1301648"/>
            <a:ext cx="345644" cy="3456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/>
          <p:nvPr/>
        </p:nvSpPr>
        <p:spPr>
          <a:xfrm>
            <a:off x="1440180" y="1131570"/>
            <a:ext cx="706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pt-B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Escrever testes unitários de alta qualidade é crucial no ciclo de desenvolvimento de software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pt-BR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Porém, escrever esses testes manualmente é demorado, tedioso e caro.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9"/>
          <p:cNvSpPr/>
          <p:nvPr/>
        </p:nvSpPr>
        <p:spPr>
          <a:xfrm>
            <a:off x="480060" y="2057400"/>
            <a:ext cx="8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lang="pt-BR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Para reduzir esse esforço, a literatura propõe gerar testes unitários automaticamente utilizando duas direções: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480056" y="2651757"/>
            <a:ext cx="4011900" cy="18717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9"/>
          <p:cNvSpPr/>
          <p:nvPr/>
        </p:nvSpPr>
        <p:spPr>
          <a:xfrm>
            <a:off x="685800" y="2857500"/>
            <a:ext cx="548400" cy="5484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501" y="297820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9"/>
          <p:cNvSpPr/>
          <p:nvPr/>
        </p:nvSpPr>
        <p:spPr>
          <a:xfrm>
            <a:off x="1371600" y="2926080"/>
            <a:ext cx="29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pt-BR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Técnicas Tradicionais (Evosuite)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685800" y="3500287"/>
            <a:ext cx="36345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Boa cobertura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Baixa legibilidade</a:t>
            </a:r>
            <a:r>
              <a:rPr b="1" lang="pt-BR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pt-BR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testes gerados sem semântica clara, difíceis de entender e manter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9"/>
          <p:cNvSpPr/>
          <p:nvPr/>
        </p:nvSpPr>
        <p:spPr>
          <a:xfrm>
            <a:off x="4671056" y="2651757"/>
            <a:ext cx="4011900" cy="18717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"/>
          <p:cNvSpPr/>
          <p:nvPr/>
        </p:nvSpPr>
        <p:spPr>
          <a:xfrm>
            <a:off x="4876800" y="2857500"/>
            <a:ext cx="548400" cy="5484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9"/>
          <p:cNvSpPr/>
          <p:nvPr/>
        </p:nvSpPr>
        <p:spPr>
          <a:xfrm>
            <a:off x="5562600" y="2926080"/>
            <a:ext cx="29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lang="pt-BR" sz="1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Large Language Models (LLMs)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9"/>
          <p:cNvSpPr/>
          <p:nvPr/>
        </p:nvSpPr>
        <p:spPr>
          <a:xfrm>
            <a:off x="4876800" y="3500287"/>
            <a:ext cx="36345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lang="pt-BR" sz="1100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Direção promissora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1" lang="pt-BR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Estudos anteriores focaram apenas em LLMs fechados e prompts fixos.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3379" y="2950986"/>
            <a:ext cx="307238" cy="30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/>
          <p:nvPr/>
        </p:nvSpPr>
        <p:spPr>
          <a:xfrm>
            <a:off x="480060" y="342900"/>
            <a:ext cx="685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Lacuna na Literatura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0"/>
          <p:cNvSpPr/>
          <p:nvPr/>
        </p:nvSpPr>
        <p:spPr>
          <a:xfrm>
            <a:off x="524231" y="1131525"/>
            <a:ext cx="8013300" cy="3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Pesquisadores propuseram utilizar modelos comerciais e fechados para gerar testes unitários automaticamente. </a:t>
            </a: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Porém, esses modelos apresentam: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Desafios de privacidade e segurança dos dados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Custos associados ao uso de API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Os estudos dependem de estratégias de </a:t>
            </a:r>
            <a:r>
              <a:rPr b="1"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prompting fixas</a:t>
            </a: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negligenciando fatores como: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 de prompt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Métodos de in-context learning (ICL) como CoT e RAG 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t/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/>
          <p:nvPr/>
        </p:nvSpPr>
        <p:spPr>
          <a:xfrm>
            <a:off x="480060" y="342900"/>
            <a:ext cx="685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Objetivo do Estudo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524231" y="1131525"/>
            <a:ext cx="8013300" cy="3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Avaliar a geração de testes unitários baseada em LLMs </a:t>
            </a: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sob quatro aspectos: 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 de prompts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Métodos de in-context learning (ICL)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Comparação entre LLMs open-source, GPT-4 e Evosuite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Avaliação por meio de métricas diversas (validade sintática, cobertura de testes e detecção de defeitos). 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t/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Perguntas de Pesquisa (RQs)</a:t>
            </a:r>
            <a:endParaRPr sz="2700"/>
          </a:p>
        </p:txBody>
      </p:sp>
      <p:sp>
        <p:nvSpPr>
          <p:cNvPr id="156" name="Google Shape;156;p32"/>
          <p:cNvSpPr/>
          <p:nvPr/>
        </p:nvSpPr>
        <p:spPr>
          <a:xfrm>
            <a:off x="480050" y="1325877"/>
            <a:ext cx="4011900" cy="1128000"/>
          </a:xfrm>
          <a:prstGeom prst="roundRect">
            <a:avLst>
              <a:gd fmla="val 3137" name="adj"/>
            </a:avLst>
          </a:prstGeom>
          <a:solidFill>
            <a:srgbClr val="F4F6FB"/>
          </a:solidFill>
          <a:ln>
            <a:noFill/>
          </a:ln>
          <a:effectLst>
            <a:outerShdw blurRad="57150" rotWithShape="0" algn="bl" dir="2700000" dist="1905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/>
          <p:nvPr/>
        </p:nvSpPr>
        <p:spPr>
          <a:xfrm>
            <a:off x="685800" y="1531620"/>
            <a:ext cx="617100" cy="61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/>
          <p:nvPr/>
        </p:nvSpPr>
        <p:spPr>
          <a:xfrm>
            <a:off x="685800" y="1531620"/>
            <a:ext cx="617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RQ1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2"/>
          <p:cNvSpPr/>
          <p:nvPr/>
        </p:nvSpPr>
        <p:spPr>
          <a:xfrm>
            <a:off x="1440175" y="1531629"/>
            <a:ext cx="2914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pt-BR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Como o design do prompt afeta a eficácia dos LLMs na geração de testes unitários?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2"/>
          <p:cNvSpPr/>
          <p:nvPr/>
        </p:nvSpPr>
        <p:spPr>
          <a:xfrm>
            <a:off x="4725500" y="1325877"/>
            <a:ext cx="4011900" cy="1128000"/>
          </a:xfrm>
          <a:prstGeom prst="roundRect">
            <a:avLst>
              <a:gd fmla="val 3137" name="adj"/>
            </a:avLst>
          </a:prstGeom>
          <a:solidFill>
            <a:srgbClr val="F4F6FB"/>
          </a:solidFill>
          <a:ln>
            <a:noFill/>
          </a:ln>
          <a:effectLst>
            <a:outerShdw blurRad="57150" rotWithShape="0" algn="bl" dir="2700000" dist="1905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4931250" y="1531620"/>
            <a:ext cx="617100" cy="61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4931250" y="1531620"/>
            <a:ext cx="617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</a:t>
            </a:r>
            <a:r>
              <a:rPr b="1" lang="pt-BR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2"/>
          <p:cNvSpPr/>
          <p:nvPr/>
        </p:nvSpPr>
        <p:spPr>
          <a:xfrm>
            <a:off x="5685625" y="1531629"/>
            <a:ext cx="2914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pt-BR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Como os LLMs de código aberto se comportam na geração de testes unitários em comparação com o GPT-4 e o Evosuite?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480050" y="2888452"/>
            <a:ext cx="4011900" cy="1128000"/>
          </a:xfrm>
          <a:prstGeom prst="roundRect">
            <a:avLst>
              <a:gd fmla="val 3137" name="adj"/>
            </a:avLst>
          </a:prstGeom>
          <a:solidFill>
            <a:srgbClr val="F4F6FB"/>
          </a:solidFill>
          <a:ln>
            <a:noFill/>
          </a:ln>
          <a:effectLst>
            <a:outerShdw blurRad="57150" rotWithShape="0" algn="bl" dir="2700000" dist="1905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685800" y="3094195"/>
            <a:ext cx="617100" cy="61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685800" y="3094195"/>
            <a:ext cx="617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</a:t>
            </a:r>
            <a:r>
              <a:rPr b="1" lang="pt-BR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1440175" y="3094204"/>
            <a:ext cx="2914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pt-BR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Como os métodos de in-context learning afetam a eficácia da geração de testes unitários baseada em LLMs?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4725500" y="2888452"/>
            <a:ext cx="4011900" cy="1128000"/>
          </a:xfrm>
          <a:prstGeom prst="roundRect">
            <a:avLst>
              <a:gd fmla="val 3137" name="adj"/>
            </a:avLst>
          </a:prstGeom>
          <a:solidFill>
            <a:srgbClr val="F4F6FB"/>
          </a:solidFill>
          <a:ln>
            <a:noFill/>
          </a:ln>
          <a:effectLst>
            <a:outerShdw blurRad="57150" rotWithShape="0" algn="bl" dir="2700000" dist="1905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4931250" y="3094195"/>
            <a:ext cx="617100" cy="61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/>
          <p:nvPr/>
        </p:nvSpPr>
        <p:spPr>
          <a:xfrm>
            <a:off x="4931250" y="3094195"/>
            <a:ext cx="617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</a:t>
            </a:r>
            <a:r>
              <a:rPr b="1" lang="pt-BR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5685625" y="3094204"/>
            <a:ext cx="2914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pt-BR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Quão eficazes são os testes unitários gerados por LLMs em termos de detecção de defeitos?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Setup Experimental</a:t>
            </a:r>
            <a:endParaRPr sz="2700"/>
          </a:p>
        </p:txBody>
      </p:sp>
      <p:sp>
        <p:nvSpPr>
          <p:cNvPr id="177" name="Google Shape;177;p33"/>
          <p:cNvSpPr/>
          <p:nvPr/>
        </p:nvSpPr>
        <p:spPr>
          <a:xfrm>
            <a:off x="4605650" y="1246425"/>
            <a:ext cx="3780000" cy="2979600"/>
          </a:xfrm>
          <a:prstGeom prst="roundRect">
            <a:avLst>
              <a:gd fmla="val 2162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59600" lIns="59600" spcFirstLastPara="1" rIns="59600" wrap="square" tIns="5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4784437" y="1425212"/>
            <a:ext cx="476700" cy="4767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59600" lIns="59600" spcFirstLastPara="1" rIns="59600" wrap="square" tIns="5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/>
          <p:nvPr/>
        </p:nvSpPr>
        <p:spPr>
          <a:xfrm>
            <a:off x="5380403" y="1484800"/>
            <a:ext cx="2243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775" lIns="59600" spcFirstLastPara="1" rIns="59600" wrap="square" tIns="2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73"/>
              <a:buFont typeface="Cambria"/>
              <a:buNone/>
            </a:pPr>
            <a:r>
              <a:rPr b="1" lang="pt-BR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Modelos Estudados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3"/>
          <p:cNvSpPr/>
          <p:nvPr/>
        </p:nvSpPr>
        <p:spPr>
          <a:xfrm>
            <a:off x="4784400" y="2021175"/>
            <a:ext cx="3415500" cy="20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775" lIns="59600" spcFirstLastPara="1" rIns="59600" wrap="square" tIns="29775">
            <a:noAutofit/>
          </a:bodyPr>
          <a:lstStyle/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CodeLlama-7B-Instruct(CL-7B)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CodeLlama-13B-Instruct(CL-13B)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Phind-CodeLlama-34B-v2(PD-34B)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DeepSeekCoder-6.7B-Instruct(DC-7B)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DeepSeekCoder-33B-Instruct(DC-33B)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GPT-4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3"/>
          <p:cNvSpPr/>
          <p:nvPr/>
        </p:nvSpPr>
        <p:spPr>
          <a:xfrm>
            <a:off x="528950" y="1246425"/>
            <a:ext cx="3780000" cy="2979600"/>
          </a:xfrm>
          <a:prstGeom prst="roundRect">
            <a:avLst>
              <a:gd fmla="val 2162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59600" lIns="59600" spcFirstLastPara="1" rIns="59600" wrap="square" tIns="5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707737" y="1425212"/>
            <a:ext cx="476700" cy="4767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59600" lIns="59600" spcFirstLastPara="1" rIns="59600" wrap="square" tIns="5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626" y="1530100"/>
            <a:ext cx="266988" cy="2669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3"/>
          <p:cNvSpPr/>
          <p:nvPr/>
        </p:nvSpPr>
        <p:spPr>
          <a:xfrm>
            <a:off x="1303703" y="1484800"/>
            <a:ext cx="2243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775" lIns="59600" spcFirstLastPara="1" rIns="59600" wrap="square" tIns="2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73"/>
              <a:buFont typeface="Cambria"/>
              <a:buNone/>
            </a:pPr>
            <a:r>
              <a:rPr b="1" lang="pt-BR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Benchmark</a:t>
            </a:r>
            <a:endParaRPr b="1" sz="18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33"/>
          <p:cNvSpPr/>
          <p:nvPr/>
        </p:nvSpPr>
        <p:spPr>
          <a:xfrm>
            <a:off x="707700" y="2021175"/>
            <a:ext cx="3415500" cy="20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775" lIns="59600" spcFirstLastPara="1" rIns="59600" wrap="square" tIns="2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Defects4J 2.0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17 projetos Java open-source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835 defeitos reais no total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778 métodos focais públicos selecionados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240" lvl="0" marL="297979" rtl="0" algn="l">
              <a:spcBef>
                <a:spcPts val="391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413 defeitos cobertos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7979" rtl="0" algn="l">
              <a:spcBef>
                <a:spcPts val="391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9275" y="1530100"/>
            <a:ext cx="266988" cy="26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/>
          <p:nvPr/>
        </p:nvSpPr>
        <p:spPr>
          <a:xfrm>
            <a:off x="480060" y="342900"/>
            <a:ext cx="685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Métricas Avaliadas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4"/>
          <p:cNvSpPr/>
          <p:nvPr/>
        </p:nvSpPr>
        <p:spPr>
          <a:xfrm>
            <a:off x="524231" y="1131525"/>
            <a:ext cx="8013300" cy="3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79400" lvl="0" marL="34290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Taxa de Sucesso de Compilação (CSR)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Cobertura de Linhas (CovL) 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Cobertura de Ramificações (CovB)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●"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Número de Defeitos Detectados (NDD)</a:t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Baseline - Resultados Originais (Cobertura)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5"/>
          <p:cNvSpPr/>
          <p:nvPr/>
        </p:nvSpPr>
        <p:spPr>
          <a:xfrm>
            <a:off x="524225" y="1055325"/>
            <a:ext cx="801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Mesmo o GPT4 - fica abaixo do Evosuite; LLMs sofrem com testes inválidos</a:t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25" y="1679925"/>
            <a:ext cx="5265275" cy="26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5"/>
          <p:cNvSpPr/>
          <p:nvPr/>
        </p:nvSpPr>
        <p:spPr>
          <a:xfrm>
            <a:off x="6206251" y="2153262"/>
            <a:ext cx="2268600" cy="1673100"/>
          </a:xfrm>
          <a:prstGeom prst="roundRect">
            <a:avLst>
              <a:gd fmla="val 3871" name="adj"/>
            </a:avLst>
          </a:prstGeom>
          <a:solidFill>
            <a:srgbClr val="F8FAFC"/>
          </a:solidFill>
          <a:ln cap="flat" cmpd="sng" w="11175">
            <a:solidFill>
              <a:srgbClr val="0F7173"/>
            </a:solidFill>
            <a:prstDash val="solid"/>
            <a:round/>
            <a:headEnd len="sm" w="sm" type="none"/>
            <a:tailEnd len="sm" w="sm" type="none"/>
          </a:ln>
          <a:effectLst>
            <a:outerShdw blurRad="111645" rotWithShape="0" algn="bl" dir="2700000" dist="33494">
              <a:srgbClr val="000000">
                <a:alpha val="21960"/>
              </a:srgbClr>
            </a:outerShdw>
          </a:effectLst>
        </p:spPr>
        <p:txBody>
          <a:bodyPr anchorCtr="0" anchor="ctr" bIns="80375" lIns="80375" spcFirstLastPara="1" rIns="80375" wrap="square" tIns="8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1"/>
          </a:p>
        </p:txBody>
      </p:sp>
      <p:sp>
        <p:nvSpPr>
          <p:cNvPr id="203" name="Google Shape;203;p35"/>
          <p:cNvSpPr/>
          <p:nvPr/>
        </p:nvSpPr>
        <p:spPr>
          <a:xfrm>
            <a:off x="6367019" y="2153269"/>
            <a:ext cx="2170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175" lIns="80375" spcFirstLastPara="1" rIns="80375" wrap="square" tIns="40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3"/>
              <a:buFont typeface="Calibri"/>
              <a:buNone/>
            </a:pPr>
            <a:r>
              <a:rPr b="1" i="0" lang="pt-BR" sz="1143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Linha de base para comparação</a:t>
            </a:r>
            <a:endParaRPr b="0" i="0" sz="114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5"/>
          <p:cNvSpPr/>
          <p:nvPr/>
        </p:nvSpPr>
        <p:spPr>
          <a:xfrm>
            <a:off x="6255304" y="2501385"/>
            <a:ext cx="21705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175" lIns="80375" spcFirstLastPara="1" rIns="80375" wrap="square" tIns="40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67"/>
              <a:buFont typeface="Calibri"/>
              <a:buNone/>
            </a:pPr>
            <a:r>
              <a:rPr b="1" i="0" lang="pt-BR" sz="967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Evosuite: 78,9% — referência tradicional</a:t>
            </a:r>
            <a:b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67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Melhor LLM (GPT-4): 40,4%</a:t>
            </a:r>
            <a:b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67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Melhor open-source (PD-34B): 37,4%</a:t>
            </a:r>
            <a:b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67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96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Gargalo: ~50% dos testes não compilam</a:t>
            </a:r>
            <a:endParaRPr b="0" i="0" sz="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/>
          <p:nvPr/>
        </p:nvSpPr>
        <p:spPr>
          <a:xfrm>
            <a:off x="7063740" y="-1234440"/>
            <a:ext cx="3429000" cy="3429000"/>
          </a:xfrm>
          <a:prstGeom prst="ellipse">
            <a:avLst/>
          </a:prstGeom>
          <a:solidFill>
            <a:srgbClr val="2A387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6"/>
          <p:cNvSpPr/>
          <p:nvPr/>
        </p:nvSpPr>
        <p:spPr>
          <a:xfrm>
            <a:off x="480060" y="1097280"/>
            <a:ext cx="78867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Replicação do LLM4UAT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480060" y="2416629"/>
            <a:ext cx="7886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Artigo base: </a:t>
            </a:r>
            <a:r>
              <a:rPr lang="pt-BR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On the Evaluation of Large Language Models in Unit Test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480050" y="3412007"/>
            <a:ext cx="8181600" cy="856800"/>
          </a:xfrm>
          <a:prstGeom prst="rect">
            <a:avLst/>
          </a:prstGeom>
          <a:solidFill>
            <a:srgbClr val="1820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6"/>
          <p:cNvSpPr/>
          <p:nvPr/>
        </p:nvSpPr>
        <p:spPr>
          <a:xfrm>
            <a:off x="576925" y="3527507"/>
            <a:ext cx="7543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Letícia Rose de Santana Lopes - lrsl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 Gabriela Alves Zuppardo - mgaz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Thiago Henrique Lopes da Silva - thls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7827300" y="4820400"/>
            <a:ext cx="506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u="sng">
                <a:solidFill>
                  <a:schemeClr val="hlink"/>
                </a:solidFill>
                <a:hlinkClick r:id="rId4"/>
              </a:rPr>
              <a:t>Repositório do projeto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7" title="pipeline_llm4ut-screenshot.png"/>
          <p:cNvPicPr preferRelativeResize="0"/>
          <p:nvPr/>
        </p:nvPicPr>
        <p:blipFill rotWithShape="1">
          <a:blip r:embed="rId3">
            <a:alphaModFix/>
          </a:blip>
          <a:srcRect b="28898" l="520" r="-520" t="26104"/>
          <a:stretch/>
        </p:blipFill>
        <p:spPr>
          <a:xfrm>
            <a:off x="480050" y="967500"/>
            <a:ext cx="8448925" cy="365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Pipeline de avaliação - LLM4UT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/>
          <p:nvPr/>
        </p:nvSpPr>
        <p:spPr>
          <a:xfrm>
            <a:off x="6870825" y="459630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8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Modelos usados na replicação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8"/>
          <p:cNvSpPr/>
          <p:nvPr/>
        </p:nvSpPr>
        <p:spPr>
          <a:xfrm>
            <a:off x="524225" y="979125"/>
            <a:ext cx="801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Substituições necessárias por custo, disponibilidade e hardware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8"/>
          <p:cNvSpPr/>
          <p:nvPr/>
        </p:nvSpPr>
        <p:spPr>
          <a:xfrm>
            <a:off x="499950" y="1387065"/>
            <a:ext cx="8144100" cy="438000"/>
          </a:xfrm>
          <a:prstGeom prst="roundRect">
            <a:avLst>
              <a:gd fmla="val 16000" name="adj"/>
            </a:avLst>
          </a:prstGeom>
          <a:solidFill>
            <a:srgbClr val="EEF2F7"/>
          </a:solidFill>
          <a:ln cap="flat" cmpd="sng" w="1217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/>
          <p:nvPr/>
        </p:nvSpPr>
        <p:spPr>
          <a:xfrm>
            <a:off x="631308" y="1387065"/>
            <a:ext cx="2539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Original (artigo)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3258474" y="1387065"/>
            <a:ext cx="2539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Substituto usado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5885640" y="1387065"/>
            <a:ext cx="27147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Motivo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8"/>
          <p:cNvSpPr/>
          <p:nvPr/>
        </p:nvSpPr>
        <p:spPr>
          <a:xfrm>
            <a:off x="499950" y="1912500"/>
            <a:ext cx="8144100" cy="507900"/>
          </a:xfrm>
          <a:prstGeom prst="rect">
            <a:avLst/>
          </a:prstGeom>
          <a:solidFill>
            <a:srgbClr val="F8FAFC"/>
          </a:solidFill>
          <a:ln cap="flat" cmpd="sng" w="91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8"/>
          <p:cNvSpPr/>
          <p:nvPr/>
        </p:nvSpPr>
        <p:spPr>
          <a:xfrm>
            <a:off x="499900" y="1912500"/>
            <a:ext cx="267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ChatGPT-4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3258474" y="1912500"/>
            <a:ext cx="25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8"/>
          <p:cNvSpPr/>
          <p:nvPr/>
        </p:nvSpPr>
        <p:spPr>
          <a:xfrm>
            <a:off x="5885640" y="1912500"/>
            <a:ext cx="271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3"/>
              <a:buFont typeface="Calibri"/>
              <a:buNone/>
            </a:pPr>
            <a:r>
              <a:rPr b="0" i="0" lang="pt-BR" sz="105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Custo proibitivo de API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8"/>
          <p:cNvSpPr/>
          <p:nvPr/>
        </p:nvSpPr>
        <p:spPr>
          <a:xfrm>
            <a:off x="499950" y="2455449"/>
            <a:ext cx="8144100" cy="507900"/>
          </a:xfrm>
          <a:prstGeom prst="rect">
            <a:avLst/>
          </a:prstGeom>
          <a:solidFill>
            <a:srgbClr val="EEF2F7"/>
          </a:solidFill>
          <a:ln cap="flat" cmpd="sng" w="91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8"/>
          <p:cNvSpPr/>
          <p:nvPr/>
        </p:nvSpPr>
        <p:spPr>
          <a:xfrm>
            <a:off x="499950" y="2455450"/>
            <a:ext cx="267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PD-34B (Phind)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8"/>
          <p:cNvSpPr/>
          <p:nvPr/>
        </p:nvSpPr>
        <p:spPr>
          <a:xfrm>
            <a:off x="3258474" y="2455449"/>
            <a:ext cx="25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LLaMA 4 Scout 17B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8"/>
          <p:cNvSpPr/>
          <p:nvPr/>
        </p:nvSpPr>
        <p:spPr>
          <a:xfrm>
            <a:off x="5885640" y="2455449"/>
            <a:ext cx="271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3"/>
              <a:buFont typeface="Calibri"/>
              <a:buNone/>
            </a:pPr>
            <a:r>
              <a:rPr b="0" i="0" lang="pt-BR" sz="105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Disponível via Groq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8"/>
          <p:cNvSpPr/>
          <p:nvPr/>
        </p:nvSpPr>
        <p:spPr>
          <a:xfrm>
            <a:off x="499950" y="2998399"/>
            <a:ext cx="8144100" cy="507900"/>
          </a:xfrm>
          <a:prstGeom prst="rect">
            <a:avLst/>
          </a:prstGeom>
          <a:solidFill>
            <a:srgbClr val="F8FAFC"/>
          </a:solidFill>
          <a:ln cap="flat" cmpd="sng" w="91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8"/>
          <p:cNvSpPr/>
          <p:nvPr/>
        </p:nvSpPr>
        <p:spPr>
          <a:xfrm>
            <a:off x="499949" y="2998400"/>
            <a:ext cx="27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StarCoder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8"/>
          <p:cNvSpPr/>
          <p:nvPr/>
        </p:nvSpPr>
        <p:spPr>
          <a:xfrm>
            <a:off x="3258474" y="2998399"/>
            <a:ext cx="25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DeepSeek-R1 8B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8"/>
          <p:cNvSpPr/>
          <p:nvPr/>
        </p:nvSpPr>
        <p:spPr>
          <a:xfrm>
            <a:off x="5885640" y="2998399"/>
            <a:ext cx="271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3"/>
              <a:buFont typeface="Calibri"/>
              <a:buNone/>
            </a:pPr>
            <a:r>
              <a:rPr b="0" i="0" lang="pt-BR" sz="105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Raciocínio + código, open-source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499950" y="3541348"/>
            <a:ext cx="8144100" cy="507900"/>
          </a:xfrm>
          <a:prstGeom prst="rect">
            <a:avLst/>
          </a:prstGeom>
          <a:solidFill>
            <a:srgbClr val="EEF2F7"/>
          </a:solidFill>
          <a:ln cap="flat" cmpd="sng" w="91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8"/>
          <p:cNvSpPr/>
          <p:nvPr/>
        </p:nvSpPr>
        <p:spPr>
          <a:xfrm>
            <a:off x="499900" y="3541350"/>
            <a:ext cx="267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CodeLlama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3258474" y="3541348"/>
            <a:ext cx="25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DeepSeek-R1 1.5B / Mistral 7B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5885640" y="3541348"/>
            <a:ext cx="271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3"/>
              <a:buFont typeface="Calibri"/>
              <a:buNone/>
            </a:pPr>
            <a:r>
              <a:rPr b="0" i="0" lang="pt-BR" sz="105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Disponíveis via Groq/Ollama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499950" y="4084297"/>
            <a:ext cx="8144100" cy="507900"/>
          </a:xfrm>
          <a:prstGeom prst="rect">
            <a:avLst/>
          </a:prstGeom>
          <a:solidFill>
            <a:srgbClr val="F8FAFC"/>
          </a:solidFill>
          <a:ln cap="flat" cmpd="sng" w="91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/>
          <p:nvPr/>
        </p:nvSpPr>
        <p:spPr>
          <a:xfrm>
            <a:off x="499900" y="4084300"/>
            <a:ext cx="267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Gemma (original)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8"/>
          <p:cNvSpPr/>
          <p:nvPr/>
        </p:nvSpPr>
        <p:spPr>
          <a:xfrm>
            <a:off x="3258474" y="4084297"/>
            <a:ext cx="25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9"/>
              <a:buFont typeface="Calibri"/>
              <a:buNone/>
            </a:pPr>
            <a:r>
              <a:rPr b="1" i="0" lang="pt-BR" sz="1149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Gemma 3 4B</a:t>
            </a:r>
            <a:endParaRPr b="0" i="0" sz="1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5885640" y="4084297"/>
            <a:ext cx="271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3"/>
              <a:buFont typeface="Calibri"/>
              <a:buNone/>
            </a:pPr>
            <a:r>
              <a:rPr b="0" i="0" lang="pt-BR" sz="105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Mesma família, versão atual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499950" y="4587482"/>
            <a:ext cx="8144100" cy="367800"/>
          </a:xfrm>
          <a:prstGeom prst="roundRect">
            <a:avLst>
              <a:gd fmla="val 19048" name="adj"/>
            </a:avLst>
          </a:prstGeom>
          <a:solidFill>
            <a:srgbClr val="FFF7E6"/>
          </a:solidFill>
          <a:ln cap="flat" cmpd="sng" w="1217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8"/>
          <p:cNvSpPr/>
          <p:nvPr/>
        </p:nvSpPr>
        <p:spPr>
          <a:xfrm>
            <a:off x="631308" y="4587471"/>
            <a:ext cx="78816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75" lIns="87550" spcFirstLastPara="1" rIns="87550" wrap="square" tIns="43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3"/>
              <a:buFont typeface="Calibri"/>
              <a:buNone/>
            </a:pPr>
            <a:r>
              <a:rPr b="0" lang="pt-BR" sz="1053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Resultado: 5 modelos pequenos/médios (1,5B–17B) no lugar de modelos de 7B–34B + GPT-4 do artigo original</a:t>
            </a:r>
            <a:endParaRPr b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Estrutura das instâncias utilizadas no experimento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9"/>
          <p:cNvSpPr/>
          <p:nvPr/>
        </p:nvSpPr>
        <p:spPr>
          <a:xfrm>
            <a:off x="524225" y="979125"/>
            <a:ext cx="80133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Cada instância do dataset contém informações do método a ser testado e os metadados necessários para construir o prompt enviado ao modelo.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9"/>
          <p:cNvSpPr/>
          <p:nvPr/>
        </p:nvSpPr>
        <p:spPr>
          <a:xfrm>
            <a:off x="6847325" y="459630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975" y="1748325"/>
            <a:ext cx="5755389" cy="31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Prompt utilizado para geração dos testes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0"/>
          <p:cNvSpPr/>
          <p:nvPr/>
        </p:nvSpPr>
        <p:spPr>
          <a:xfrm>
            <a:off x="6847325" y="459630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25" y="973500"/>
            <a:ext cx="7017599" cy="394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/>
          <p:nvPr/>
        </p:nvSpPr>
        <p:spPr>
          <a:xfrm>
            <a:off x="6952902" y="4623659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Infraestrutura disponível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524225" y="979125"/>
            <a:ext cx="801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 máquinas , sem acesso a GPUs de data center (A100/H100) 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1"/>
          <p:cNvSpPr/>
          <p:nvPr/>
        </p:nvSpPr>
        <p:spPr>
          <a:xfrm>
            <a:off x="562150" y="1395161"/>
            <a:ext cx="8229600" cy="618600"/>
          </a:xfrm>
          <a:prstGeom prst="roundRect">
            <a:avLst>
              <a:gd fmla="val 13793" name="adj"/>
            </a:avLst>
          </a:prstGeom>
          <a:solidFill>
            <a:srgbClr val="EEF2F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590" y="15902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/>
          <p:nvPr/>
        </p:nvSpPr>
        <p:spPr>
          <a:xfrm>
            <a:off x="1216502" y="1427220"/>
            <a:ext cx="735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1" lang="pt-BR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 4 máquinas foram combinadas e usadas em TODAS as etapas do pipeline : preparação, inferência e avaliação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562152" y="2054861"/>
            <a:ext cx="4114800" cy="7422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734" y="227737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1"/>
          <p:cNvSpPr/>
          <p:nvPr/>
        </p:nvSpPr>
        <p:spPr>
          <a:xfrm>
            <a:off x="1202222" y="2259082"/>
            <a:ext cx="332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RTX 3060 (GPU)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4859825" y="2054859"/>
            <a:ext cx="3917400" cy="7422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4414" y="220117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1"/>
          <p:cNvSpPr/>
          <p:nvPr/>
        </p:nvSpPr>
        <p:spPr>
          <a:xfrm>
            <a:off x="5499900" y="2259084"/>
            <a:ext cx="303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AMD Ryzen · 128 GB 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1"/>
          <p:cNvSpPr/>
          <p:nvPr/>
        </p:nvSpPr>
        <p:spPr>
          <a:xfrm>
            <a:off x="562152" y="2859659"/>
            <a:ext cx="4081800" cy="8313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841" y="3082159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1"/>
          <p:cNvSpPr/>
          <p:nvPr/>
        </p:nvSpPr>
        <p:spPr>
          <a:xfrm>
            <a:off x="1169329" y="3063871"/>
            <a:ext cx="332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Intel i5-1035G1 · 8 GB 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1"/>
          <p:cNvSpPr/>
          <p:nvPr/>
        </p:nvSpPr>
        <p:spPr>
          <a:xfrm>
            <a:off x="4826925" y="2859659"/>
            <a:ext cx="3968700" cy="8313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1521" y="3082159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/>
          <p:nvPr/>
        </p:nvSpPr>
        <p:spPr>
          <a:xfrm>
            <a:off x="5467009" y="3063871"/>
            <a:ext cx="332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AMD Ryzen 7 7730U · 40 GB 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1"/>
          <p:cNvSpPr/>
          <p:nvPr/>
        </p:nvSpPr>
        <p:spPr>
          <a:xfrm>
            <a:off x="562125" y="3759409"/>
            <a:ext cx="8229600" cy="1049700"/>
          </a:xfrm>
          <a:prstGeom prst="roundRect">
            <a:avLst>
              <a:gd fmla="val 9524" name="adj"/>
            </a:avLst>
          </a:prstGeom>
          <a:solidFill>
            <a:srgbClr val="F8FAFC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>
            <a:off x="679297" y="3832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O que essa infraestrutura NÃO permitiria fazer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9297" y="41434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1"/>
          <p:cNvSpPr/>
          <p:nvPr/>
        </p:nvSpPr>
        <p:spPr>
          <a:xfrm>
            <a:off x="1063345" y="412517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Ablação de prompt completa (RQ1)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1"/>
          <p:cNvSpPr/>
          <p:nvPr/>
        </p:nvSpPr>
        <p:spPr>
          <a:xfrm>
            <a:off x="1063345" y="438120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Multiplicar ~7.500 execuções por estilos e variantes de features exigiria escala fora do tempo/hardware disponível.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7843" y="413359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/>
          <p:nvPr/>
        </p:nvSpPr>
        <p:spPr>
          <a:xfrm>
            <a:off x="5289595" y="4043714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Retreinamento/fine-tuning (≥13B)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1"/>
          <p:cNvSpPr/>
          <p:nvPr/>
        </p:nvSpPr>
        <p:spPr>
          <a:xfrm>
            <a:off x="5256700" y="4302509"/>
            <a:ext cx="357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SFT de modelos grandes exige GPUs com dezenas de GB de VRAM e horas de treino </a:t>
            </a:r>
            <a:r>
              <a:rPr lang="pt-B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inviável nas 4 máquinas disponíveis.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Estágio 2 — Inferência: resultados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2"/>
          <p:cNvSpPr/>
          <p:nvPr/>
        </p:nvSpPr>
        <p:spPr>
          <a:xfrm>
            <a:off x="524225" y="979125"/>
            <a:ext cx="801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100% concluído para os 5 modelos · estratégia comment_extend · 17 projetos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2"/>
          <p:cNvSpPr/>
          <p:nvPr/>
        </p:nvSpPr>
        <p:spPr>
          <a:xfrm>
            <a:off x="6604316" y="4596300"/>
            <a:ext cx="19260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600425" y="1360050"/>
            <a:ext cx="8013300" cy="728100"/>
          </a:xfrm>
          <a:prstGeom prst="roundRect">
            <a:avLst>
              <a:gd fmla="val 11111" name="adj"/>
            </a:avLst>
          </a:prstGeom>
          <a:solidFill>
            <a:srgbClr val="EEF2F7"/>
          </a:solidFill>
          <a:ln cap="flat" cmpd="sng" w="168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12402" rotWithShape="0" algn="bl" dir="2700000" dist="33721">
              <a:srgbClr val="000000">
                <a:alpha val="21960"/>
              </a:srgbClr>
            </a:outerShdw>
          </a:effectLst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2"/>
          <p:cNvSpPr/>
          <p:nvPr/>
        </p:nvSpPr>
        <p:spPr>
          <a:xfrm>
            <a:off x="828363" y="1360050"/>
            <a:ext cx="16413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186"/>
              <a:buFont typeface="Calibri"/>
              <a:buNone/>
            </a:pPr>
            <a:r>
              <a:rPr b="1" i="0" lang="pt-BR" sz="3186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~7.582</a:t>
            </a:r>
            <a:endParaRPr b="0" i="0" sz="31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2"/>
          <p:cNvSpPr/>
          <p:nvPr/>
        </p:nvSpPr>
        <p:spPr>
          <a:xfrm>
            <a:off x="2332088" y="1360050"/>
            <a:ext cx="6290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39"/>
              <a:buFont typeface="Calibri"/>
              <a:buNone/>
            </a:pPr>
            <a:r>
              <a:rPr b="0" i="0" lang="pt-BR" sz="123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testes unitários gerados, somando os 5 modelos × 1</a:t>
            </a:r>
            <a:r>
              <a:rPr lang="pt-BR" sz="1239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pt-BR" sz="123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projetos Defects4J</a:t>
            </a:r>
            <a:endParaRPr b="0" i="0" sz="12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2"/>
          <p:cNvSpPr/>
          <p:nvPr/>
        </p:nvSpPr>
        <p:spPr>
          <a:xfrm>
            <a:off x="612625" y="2269725"/>
            <a:ext cx="8013300" cy="404700"/>
          </a:xfrm>
          <a:prstGeom prst="rect">
            <a:avLst/>
          </a:prstGeom>
          <a:solidFill>
            <a:srgbClr val="F8FAFC"/>
          </a:solidFill>
          <a:ln cap="flat" cmpd="sng" w="112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"/>
          <p:cNvSpPr/>
          <p:nvPr/>
        </p:nvSpPr>
        <p:spPr>
          <a:xfrm>
            <a:off x="749388" y="2269726"/>
            <a:ext cx="31911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2"/>
          <p:cNvSpPr/>
          <p:nvPr/>
        </p:nvSpPr>
        <p:spPr>
          <a:xfrm>
            <a:off x="3940514" y="2269726"/>
            <a:ext cx="237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Registros gerados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2"/>
          <p:cNvSpPr/>
          <p:nvPr/>
        </p:nvSpPr>
        <p:spPr>
          <a:xfrm>
            <a:off x="6311073" y="2269725"/>
            <a:ext cx="2302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Hardware usado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/>
          <p:nvPr/>
        </p:nvSpPr>
        <p:spPr>
          <a:xfrm>
            <a:off x="612625" y="2674375"/>
            <a:ext cx="8013300" cy="445200"/>
          </a:xfrm>
          <a:prstGeom prst="rect">
            <a:avLst/>
          </a:prstGeom>
          <a:solidFill>
            <a:srgbClr val="F8FAFC"/>
          </a:solidFill>
          <a:ln cap="flat" cmpd="sng" w="84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/>
          <p:nvPr/>
        </p:nvSpPr>
        <p:spPr>
          <a:xfrm>
            <a:off x="749388" y="2674374"/>
            <a:ext cx="319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Gemma 3 4B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2"/>
          <p:cNvSpPr/>
          <p:nvPr/>
        </p:nvSpPr>
        <p:spPr>
          <a:xfrm>
            <a:off x="3940514" y="2674374"/>
            <a:ext cx="2370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1.517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2"/>
          <p:cNvSpPr/>
          <p:nvPr/>
        </p:nvSpPr>
        <p:spPr>
          <a:xfrm>
            <a:off x="5932650" y="2674375"/>
            <a:ext cx="268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4"/>
              <a:buFont typeface="Calibri"/>
              <a:buNone/>
            </a:pPr>
            <a:r>
              <a:rPr b="0" i="0" lang="pt-BR" sz="97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Ollama local </a:t>
            </a:r>
            <a:endParaRPr b="0" i="0" sz="9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2"/>
          <p:cNvSpPr/>
          <p:nvPr/>
        </p:nvSpPr>
        <p:spPr>
          <a:xfrm>
            <a:off x="612625" y="3119488"/>
            <a:ext cx="8013300" cy="445200"/>
          </a:xfrm>
          <a:prstGeom prst="rect">
            <a:avLst/>
          </a:prstGeom>
          <a:solidFill>
            <a:srgbClr val="EEF2F7"/>
          </a:solidFill>
          <a:ln cap="flat" cmpd="sng" w="84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>
            <a:off x="749388" y="3119487"/>
            <a:ext cx="319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Mistral 7B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2"/>
          <p:cNvSpPr/>
          <p:nvPr/>
        </p:nvSpPr>
        <p:spPr>
          <a:xfrm>
            <a:off x="3940514" y="3119487"/>
            <a:ext cx="2370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1.517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5901475" y="3119500"/>
            <a:ext cx="268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4"/>
              <a:buFont typeface="Calibri"/>
              <a:buNone/>
            </a:pPr>
            <a:r>
              <a:rPr lang="pt-BR" sz="974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Ollama local </a:t>
            </a:r>
            <a:endParaRPr b="0" i="0" sz="9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612625" y="3564601"/>
            <a:ext cx="8013300" cy="445200"/>
          </a:xfrm>
          <a:prstGeom prst="rect">
            <a:avLst/>
          </a:prstGeom>
          <a:solidFill>
            <a:srgbClr val="F8FAFC"/>
          </a:solidFill>
          <a:ln cap="flat" cmpd="sng" w="84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>
            <a:off x="749388" y="3564600"/>
            <a:ext cx="319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DeepSeek-R1 8B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3940514" y="3564600"/>
            <a:ext cx="2370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1.516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5901475" y="3564600"/>
            <a:ext cx="268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4"/>
              <a:buFont typeface="Calibri"/>
              <a:buNone/>
            </a:pPr>
            <a:r>
              <a:rPr lang="pt-BR" sz="974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Ollama local </a:t>
            </a:r>
            <a:endParaRPr sz="974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612625" y="4009713"/>
            <a:ext cx="8013300" cy="445200"/>
          </a:xfrm>
          <a:prstGeom prst="rect">
            <a:avLst/>
          </a:prstGeom>
          <a:solidFill>
            <a:srgbClr val="EEF2F7"/>
          </a:solidFill>
          <a:ln cap="flat" cmpd="sng" w="84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>
            <a:off x="749388" y="4009713"/>
            <a:ext cx="319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DeepSeek-R1 1.5B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2"/>
          <p:cNvSpPr/>
          <p:nvPr/>
        </p:nvSpPr>
        <p:spPr>
          <a:xfrm>
            <a:off x="3940514" y="4009713"/>
            <a:ext cx="2370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1.517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2"/>
          <p:cNvSpPr/>
          <p:nvPr/>
        </p:nvSpPr>
        <p:spPr>
          <a:xfrm>
            <a:off x="5901475" y="4009725"/>
            <a:ext cx="268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4"/>
              <a:buFont typeface="Calibri"/>
              <a:buNone/>
            </a:pPr>
            <a:r>
              <a:rPr lang="pt-BR" sz="974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Ollama local </a:t>
            </a:r>
            <a:endParaRPr sz="974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2"/>
          <p:cNvSpPr/>
          <p:nvPr/>
        </p:nvSpPr>
        <p:spPr>
          <a:xfrm>
            <a:off x="612625" y="4454826"/>
            <a:ext cx="8013300" cy="445200"/>
          </a:xfrm>
          <a:prstGeom prst="rect">
            <a:avLst/>
          </a:prstGeom>
          <a:solidFill>
            <a:srgbClr val="F8FAFC"/>
          </a:solidFill>
          <a:ln cap="flat" cmpd="sng" w="84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25" lIns="80925" spcFirstLastPara="1" rIns="80925" wrap="square" tIns="8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/>
          <p:nvPr/>
        </p:nvSpPr>
        <p:spPr>
          <a:xfrm>
            <a:off x="749388" y="4454826"/>
            <a:ext cx="319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LLaMA 4 Scout 17B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2"/>
          <p:cNvSpPr/>
          <p:nvPr/>
        </p:nvSpPr>
        <p:spPr>
          <a:xfrm>
            <a:off x="3940514" y="4454826"/>
            <a:ext cx="2370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2"/>
              <a:buFont typeface="Calibri"/>
              <a:buNone/>
            </a:pPr>
            <a:r>
              <a:rPr b="1" i="0" lang="pt-BR" sz="1062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1.515</a:t>
            </a:r>
            <a:endParaRPr b="0" i="0" sz="10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2"/>
          <p:cNvSpPr/>
          <p:nvPr/>
        </p:nvSpPr>
        <p:spPr>
          <a:xfrm>
            <a:off x="5901475" y="4454825"/>
            <a:ext cx="2681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450" lIns="80925" spcFirstLastPara="1" rIns="80925" wrap="square" tIns="4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4"/>
              <a:buFont typeface="Calibri"/>
              <a:buNone/>
            </a:pPr>
            <a:r>
              <a:rPr b="0" i="0" lang="pt-BR" sz="97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API Groq</a:t>
            </a:r>
            <a:endParaRPr b="0" i="0" sz="9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Estágio 3 — Avaliação: como foi medido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3"/>
          <p:cNvSpPr/>
          <p:nvPr/>
        </p:nvSpPr>
        <p:spPr>
          <a:xfrm>
            <a:off x="524225" y="979125"/>
            <a:ext cx="801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Executado em WSL/Linux · 5 modelos × 17 projetos · ablação 'full'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3"/>
          <p:cNvSpPr/>
          <p:nvPr/>
        </p:nvSpPr>
        <p:spPr>
          <a:xfrm>
            <a:off x="618525" y="1429975"/>
            <a:ext cx="4041000" cy="13269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89" y="1479599"/>
            <a:ext cx="37303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3"/>
          <p:cNvSpPr/>
          <p:nvPr/>
        </p:nvSpPr>
        <p:spPr>
          <a:xfrm>
            <a:off x="1240246" y="1543424"/>
            <a:ext cx="3259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Ambiente: WSL/Linux/</a:t>
            </a:r>
            <a:r>
              <a:rPr b="1" lang="pt-B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778389" y="1928571"/>
            <a:ext cx="3721500" cy="22800"/>
          </a:xfrm>
          <a:prstGeom prst="rect">
            <a:avLst/>
          </a:prstGeom>
          <a:solidFill>
            <a:srgbClr val="B45309">
              <a:alpha val="34900"/>
            </a:srgbClr>
          </a:solidFill>
          <a:ln cap="flat" cmpd="sng" w="12700">
            <a:solidFill>
              <a:srgbClr val="B4530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>
            <a:off x="778382" y="1997251"/>
            <a:ext cx="372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Defects4J não roda no Windows </a:t>
            </a:r>
            <a:r>
              <a:rPr lang="pt-BR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exigiu configuração de ambiente separado para todas as compilações e execuções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4837424" y="1412000"/>
            <a:ext cx="3881100" cy="13269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279" y="1430332"/>
            <a:ext cx="37303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3"/>
          <p:cNvSpPr/>
          <p:nvPr/>
        </p:nvSpPr>
        <p:spPr>
          <a:xfrm>
            <a:off x="5459136" y="1412044"/>
            <a:ext cx="3259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Linha 'all', ablação 'full'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3"/>
          <p:cNvSpPr/>
          <p:nvPr/>
        </p:nvSpPr>
        <p:spPr>
          <a:xfrm flipH="1" rot="10800000">
            <a:off x="4997275" y="1930904"/>
            <a:ext cx="3540300" cy="22800"/>
          </a:xfrm>
          <a:prstGeom prst="rect">
            <a:avLst/>
          </a:prstGeom>
          <a:solidFill>
            <a:srgbClr val="0F766E">
              <a:alpha val="34900"/>
            </a:srgbClr>
          </a:solidFill>
          <a:ln cap="flat" cmpd="sng" w="12700">
            <a:solidFill>
              <a:srgbClr val="0F766E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3"/>
          <p:cNvSpPr/>
          <p:nvPr/>
        </p:nvSpPr>
        <p:spPr>
          <a:xfrm>
            <a:off x="4997272" y="1997251"/>
            <a:ext cx="372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Todas as features de código foram incluídas no prompt (sem ablação de features, diferente do RQ1 do artigo original)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3"/>
          <p:cNvSpPr/>
          <p:nvPr/>
        </p:nvSpPr>
        <p:spPr>
          <a:xfrm>
            <a:off x="618525" y="2926902"/>
            <a:ext cx="4041000" cy="14895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89" y="3091495"/>
            <a:ext cx="37303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/>
          <p:cNvSpPr/>
          <p:nvPr/>
        </p:nvSpPr>
        <p:spPr>
          <a:xfrm>
            <a:off x="1240246" y="3073207"/>
            <a:ext cx="3259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pt-BR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projetos avaliados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778389" y="3548695"/>
            <a:ext cx="3721500" cy="228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2700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3"/>
          <p:cNvSpPr/>
          <p:nvPr/>
        </p:nvSpPr>
        <p:spPr>
          <a:xfrm>
            <a:off x="778375" y="3658425"/>
            <a:ext cx="372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Cobertura ampla dos projetos do Defects4J, próxima aos 17 do artigo original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3"/>
          <p:cNvSpPr/>
          <p:nvPr/>
        </p:nvSpPr>
        <p:spPr>
          <a:xfrm>
            <a:off x="4837425" y="2862950"/>
            <a:ext cx="3881100" cy="15657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7279" y="3027545"/>
            <a:ext cx="37303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3"/>
          <p:cNvSpPr/>
          <p:nvPr/>
        </p:nvSpPr>
        <p:spPr>
          <a:xfrm>
            <a:off x="5459136" y="3009257"/>
            <a:ext cx="3259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pt-B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“Parameter tuple not found” em ~70% (3 modelos)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3"/>
          <p:cNvSpPr/>
          <p:nvPr/>
        </p:nvSpPr>
        <p:spPr>
          <a:xfrm flipH="1" rot="10800000">
            <a:off x="4997275" y="3541646"/>
            <a:ext cx="3540300" cy="22800"/>
          </a:xfrm>
          <a:prstGeom prst="rect">
            <a:avLst/>
          </a:prstGeom>
          <a:solidFill>
            <a:srgbClr val="7C3AED">
              <a:alpha val="34900"/>
            </a:srgbClr>
          </a:solidFill>
          <a:ln cap="flat" cmpd="sng" w="12700">
            <a:solidFill>
              <a:srgbClr val="7C3AED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3"/>
          <p:cNvSpPr/>
          <p:nvPr/>
        </p:nvSpPr>
        <p:spPr>
          <a:xfrm>
            <a:off x="4997279" y="3594473"/>
            <a:ext cx="3721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pt-BR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Bloqueio metodológico separado: incompatibilidade de formato de saída em Mistral, DeepSeek e LLaMA , não afeta o denominador do CSR (777 métodos), mas impede a compilação direta. Detalhe na seção de limitações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CSR - Taxa de Compilação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Compilou / 777 métodos focais do benchmark - denominador fixo estratégia comment_extend</a:t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00" y="1450950"/>
            <a:ext cx="4048001" cy="242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4"/>
          <p:cNvSpPr/>
          <p:nvPr/>
        </p:nvSpPr>
        <p:spPr>
          <a:xfrm>
            <a:off x="637202" y="4026500"/>
            <a:ext cx="4047900" cy="567000"/>
          </a:xfrm>
          <a:prstGeom prst="roundRect">
            <a:avLst>
              <a:gd fmla="val 12903" name="adj"/>
            </a:avLst>
          </a:prstGeom>
          <a:solidFill>
            <a:srgbClr val="EEF2F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4"/>
          <p:cNvSpPr/>
          <p:nvPr/>
        </p:nvSpPr>
        <p:spPr>
          <a:xfrm>
            <a:off x="740119" y="4026500"/>
            <a:ext cx="3842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pt-BR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'Parameter tuple not found' afetou ~70% dos prompts em Mistral, DeepSeek e LLaMA antes da compilação </a:t>
            </a:r>
            <a:r>
              <a:rPr i="1" lang="pt-BR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pt-BR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bloqueio à parte (ver limitações), não incluído neste denominador.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4"/>
          <p:cNvSpPr/>
          <p:nvPr/>
        </p:nvSpPr>
        <p:spPr>
          <a:xfrm>
            <a:off x="5153675" y="1363125"/>
            <a:ext cx="2926200" cy="3230400"/>
          </a:xfrm>
          <a:prstGeom prst="roundRect">
            <a:avLst>
              <a:gd fmla="val 3750" name="adj"/>
            </a:avLst>
          </a:prstGeom>
          <a:solidFill>
            <a:srgbClr val="F8FAFC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4"/>
          <p:cNvSpPr/>
          <p:nvPr/>
        </p:nvSpPr>
        <p:spPr>
          <a:xfrm>
            <a:off x="5336555" y="1484266"/>
            <a:ext cx="25602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Leitura dos números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4"/>
          <p:cNvSpPr/>
          <p:nvPr/>
        </p:nvSpPr>
        <p:spPr>
          <a:xfrm>
            <a:off x="5336555" y="1888069"/>
            <a:ext cx="2560200" cy="15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Gemma 3 4B lidera com 30,2% — maior CSR entre os 5</a:t>
            </a:r>
            <a:b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LLaMA 4 Scout 17B: 11,5%</a:t>
            </a:r>
            <a:b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DeepSeek-R1 8B: 4,9% · Mistral 7B: 4,6%</a:t>
            </a:r>
            <a:b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DeepSeek-R1 1.5B: 0% — nenhum teste compilou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/>
          <p:nvPr/>
        </p:nvSpPr>
        <p:spPr>
          <a:xfrm>
            <a:off x="5336555" y="3462902"/>
            <a:ext cx="2560200" cy="162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2700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>
            <a:off x="5336555" y="3559815"/>
            <a:ext cx="25602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pt-B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Dado que o código gerado pôde ser pareado, a taxa de compilação chega a 63,6% no LLaMA 4 Scout 17B </a:t>
            </a:r>
            <a:r>
              <a:rPr i="1" lang="pt-B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pt-B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esse recorte é discutido nas limitações.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CovL e CovB calculados sobre o subconjunto de testes com tentativa de execução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Cobertura - sobre todos os métodos tentados</a:t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81" name="Google Shape;3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00" y="1464631"/>
            <a:ext cx="4413726" cy="26811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/>
          <p:nvPr/>
        </p:nvSpPr>
        <p:spPr>
          <a:xfrm>
            <a:off x="5276800" y="1445198"/>
            <a:ext cx="2926200" cy="2681100"/>
          </a:xfrm>
          <a:prstGeom prst="roundRect">
            <a:avLst>
              <a:gd fmla="val 4528" name="adj"/>
            </a:avLst>
          </a:prstGeom>
          <a:solidFill>
            <a:srgbClr val="F8FAFC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LLaMA 4 Scout 17B alcança a maior cobertura global (21,5% / 17,5%), mesmo com CSR moderado (11,5%) , combina volume e qualidade.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5"/>
          <p:cNvSpPr txBox="1"/>
          <p:nvPr/>
        </p:nvSpPr>
        <p:spPr>
          <a:xfrm>
            <a:off x="5376800" y="1879198"/>
            <a:ext cx="276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lang="pt-BR" sz="15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Líder geral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CovL e CovB sobre o subconjunto de testes válidos (sem erro de compilação)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Cobertura - apenas testes que compilaram</a:t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1" name="Google Shape;391;p46"/>
          <p:cNvSpPr txBox="1"/>
          <p:nvPr/>
        </p:nvSpPr>
        <p:spPr>
          <a:xfrm>
            <a:off x="5376800" y="1879198"/>
            <a:ext cx="276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lang="pt-BR" sz="15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Líder geral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2" name="Google Shape;392;p46"/>
          <p:cNvPicPr preferRelativeResize="0"/>
          <p:nvPr/>
        </p:nvPicPr>
        <p:blipFill rotWithShape="1">
          <a:blip r:embed="rId3">
            <a:alphaModFix/>
          </a:blip>
          <a:srcRect b="0" l="-310" r="310" t="0"/>
          <a:stretch/>
        </p:blipFill>
        <p:spPr>
          <a:xfrm>
            <a:off x="551584" y="1450950"/>
            <a:ext cx="4472525" cy="277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6"/>
          <p:cNvSpPr/>
          <p:nvPr/>
        </p:nvSpPr>
        <p:spPr>
          <a:xfrm>
            <a:off x="5276800" y="1450950"/>
            <a:ext cx="2926200" cy="2772600"/>
          </a:xfrm>
          <a:prstGeom prst="roundRect">
            <a:avLst>
              <a:gd fmla="val 4528" name="adj"/>
            </a:avLst>
          </a:prstGeom>
          <a:solidFill>
            <a:srgbClr val="F8FAFC"/>
          </a:solidFill>
          <a:ln cap="flat" cmpd="sng" w="121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121207" rotWithShape="0" algn="bl" dir="2700000" dist="36362">
              <a:srgbClr val="000000">
                <a:alpha val="21960"/>
              </a:srgbClr>
            </a:outerShdw>
          </a:effectLst>
        </p:spPr>
        <p:txBody>
          <a:bodyPr anchorCtr="0" anchor="ctr" bIns="87250" lIns="87250" spcFirstLastPara="1" rIns="87250" wrap="square" tIns="87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6"/>
          <p:cNvSpPr/>
          <p:nvPr/>
        </p:nvSpPr>
        <p:spPr>
          <a:xfrm>
            <a:off x="5276800" y="1565600"/>
            <a:ext cx="2866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25" lIns="87250" spcFirstLastPara="1" rIns="87250" wrap="square" tIns="43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41"/>
              <a:buFont typeface="Calibri"/>
              <a:buNone/>
            </a:pPr>
            <a:r>
              <a:rPr b="1" i="0" lang="pt-BR" sz="1241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Inversão de ranking</a:t>
            </a:r>
            <a:endParaRPr b="0" i="0" sz="12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6"/>
          <p:cNvSpPr/>
          <p:nvPr/>
        </p:nvSpPr>
        <p:spPr>
          <a:xfrm>
            <a:off x="5276800" y="1909500"/>
            <a:ext cx="29262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25" lIns="87250" spcFirstLastPara="1" rIns="87250" wrap="square" tIns="436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8"/>
              <a:buFont typeface="Calibri"/>
              <a:buNone/>
            </a:pPr>
            <a:r>
              <a:rPr b="0" i="0" lang="pt-BR" sz="1098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Quando olhamos só os testes que compilaram, DeepSeek-R1 8B lidera (52,8% / 41,7%) </a:t>
            </a:r>
            <a:r>
              <a:rPr lang="pt-BR" sz="109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pt-BR" sz="1098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poucos testes válidos, mas de alta qualidade individual.</a:t>
            </a:r>
            <a:endParaRPr b="0" i="0" sz="10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1" name="Google Shape;401;p47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Bugs únicos detectados vs. bugs tentados, por modelo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7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NDD - Detecção de defeitos</a:t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3" name="Google Shape;4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23" y="1450950"/>
            <a:ext cx="4694074" cy="28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7"/>
          <p:cNvSpPr/>
          <p:nvPr/>
        </p:nvSpPr>
        <p:spPr>
          <a:xfrm>
            <a:off x="5662100" y="1450948"/>
            <a:ext cx="2423100" cy="2864400"/>
          </a:xfrm>
          <a:prstGeom prst="roundRect">
            <a:avLst>
              <a:gd fmla="val 4528" name="adj"/>
            </a:avLst>
          </a:prstGeom>
          <a:solidFill>
            <a:srgbClr val="F8FAFC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5844950" y="2298325"/>
            <a:ext cx="20574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LLaMA 4 Scout 17B detectou 39 de 108 bugs tentados (~36%) </a:t>
            </a:r>
            <a:r>
              <a:rPr lang="pt-BR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disparado na frente dos demais modelos, todos em torno de 5 bugs.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7"/>
          <p:cNvSpPr txBox="1"/>
          <p:nvPr/>
        </p:nvSpPr>
        <p:spPr>
          <a:xfrm>
            <a:off x="5662100" y="1638275"/>
            <a:ext cx="242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Destaque claro</a:t>
            </a:r>
            <a:endParaRPr b="1" sz="1300">
              <a:solidFill>
                <a:srgbClr val="1E7E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2" name="Google Shape;412;p48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Mesmo com modelos diferentes, padrões do artigo original se repetem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Achados-chave da replicação</a:t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551675" y="1520775"/>
            <a:ext cx="3920400" cy="1457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9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119675" rotWithShape="0" algn="bl" dir="2700000" dist="35902">
              <a:srgbClr val="000000">
                <a:alpha val="21960"/>
              </a:srgbClr>
            </a:outerShdw>
          </a:effectLst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"/>
          <p:cNvSpPr/>
          <p:nvPr/>
        </p:nvSpPr>
        <p:spPr>
          <a:xfrm>
            <a:off x="1137609" y="1650018"/>
            <a:ext cx="317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25"/>
              <a:buFont typeface="Calibri"/>
              <a:buNone/>
            </a:pPr>
            <a:r>
              <a:rPr b="1" i="0" lang="pt-BR" sz="122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LLaMA 4 Scout 17B — melhor geral</a:t>
            </a:r>
            <a:endParaRPr b="0" i="0" sz="12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706781" y="2123928"/>
            <a:ext cx="3610200" cy="21600"/>
          </a:xfrm>
          <a:prstGeom prst="rect">
            <a:avLst/>
          </a:prstGeom>
          <a:solidFill>
            <a:srgbClr val="0F766E">
              <a:alpha val="34900"/>
            </a:srgbClr>
          </a:solidFill>
          <a:ln cap="flat" cmpd="sng" w="11975">
            <a:solidFill>
              <a:srgbClr val="0F766E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8"/>
          <p:cNvSpPr/>
          <p:nvPr/>
        </p:nvSpPr>
        <p:spPr>
          <a:xfrm>
            <a:off x="706775" y="2227325"/>
            <a:ext cx="36102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4"/>
              <a:buFont typeface="Calibri"/>
              <a:buNone/>
            </a:pPr>
            <a:r>
              <a:rPr b="0" i="0" lang="pt-BR" sz="108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Maior cobertura global e disparado em NDD (39 bugs). Mesmo perfil do PD-34B no artigo original: modelo maior, mais consistente.</a:t>
            </a:r>
            <a:endParaRPr b="0" i="0" sz="10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4644550" y="1520774"/>
            <a:ext cx="3920400" cy="1457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97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19675" rotWithShape="0" algn="bl" dir="2700000" dist="35902">
              <a:srgbClr val="000000">
                <a:alpha val="21960"/>
              </a:srgbClr>
            </a:outerShdw>
          </a:effectLst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8"/>
          <p:cNvSpPr/>
          <p:nvPr/>
        </p:nvSpPr>
        <p:spPr>
          <a:xfrm>
            <a:off x="5230482" y="1650018"/>
            <a:ext cx="317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25"/>
              <a:buFont typeface="Calibri"/>
              <a:buNone/>
            </a:pPr>
            <a:r>
              <a:rPr b="1" i="0" lang="pt-BR" sz="122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Gemma 3 4B — maior CSR</a:t>
            </a:r>
            <a:endParaRPr b="0" i="0" sz="12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4799653" y="2123928"/>
            <a:ext cx="3610200" cy="21600"/>
          </a:xfrm>
          <a:prstGeom prst="rect">
            <a:avLst/>
          </a:prstGeom>
          <a:solidFill>
            <a:srgbClr val="B45309">
              <a:alpha val="34900"/>
            </a:srgbClr>
          </a:solidFill>
          <a:ln cap="flat" cmpd="sng" w="11975">
            <a:solidFill>
              <a:srgbClr val="B4530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8"/>
          <p:cNvSpPr/>
          <p:nvPr/>
        </p:nvSpPr>
        <p:spPr>
          <a:xfrm>
            <a:off x="4799650" y="2227325"/>
            <a:ext cx="36102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4"/>
              <a:buFont typeface="Calibri"/>
              <a:buNone/>
            </a:pPr>
            <a:r>
              <a:rPr b="0" i="0" lang="pt-BR" sz="108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30,2% de compilação sobre os 777 métodos, o melhor da replicação. Mas cobertura global moderada (15,2%) — gera muitos testes simples que compilam.</a:t>
            </a:r>
            <a:endParaRPr b="0" i="0" sz="10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8"/>
          <p:cNvSpPr/>
          <p:nvPr/>
        </p:nvSpPr>
        <p:spPr>
          <a:xfrm>
            <a:off x="551675" y="3068525"/>
            <a:ext cx="3920400" cy="1457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97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119675" rotWithShape="0" algn="bl" dir="2700000" dist="35902">
              <a:srgbClr val="000000">
                <a:alpha val="21960"/>
              </a:srgbClr>
            </a:outerShdw>
          </a:effectLst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8"/>
          <p:cNvSpPr/>
          <p:nvPr/>
        </p:nvSpPr>
        <p:spPr>
          <a:xfrm>
            <a:off x="1137609" y="3197776"/>
            <a:ext cx="317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25"/>
              <a:buFont typeface="Calibri"/>
              <a:buNone/>
            </a:pPr>
            <a:r>
              <a:rPr b="1" i="0" lang="pt-BR" sz="122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DeepSeek-R1 8B — qualidade por teste</a:t>
            </a:r>
            <a:endParaRPr b="0" i="0" sz="12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706781" y="3671687"/>
            <a:ext cx="3610200" cy="21600"/>
          </a:xfrm>
          <a:prstGeom prst="rect">
            <a:avLst/>
          </a:prstGeom>
          <a:solidFill>
            <a:srgbClr val="15803D">
              <a:alpha val="34900"/>
            </a:srgbClr>
          </a:solidFill>
          <a:ln cap="flat" cmpd="sng" w="11975">
            <a:solidFill>
              <a:srgbClr val="15803D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8"/>
          <p:cNvSpPr/>
          <p:nvPr/>
        </p:nvSpPr>
        <p:spPr>
          <a:xfrm>
            <a:off x="706775" y="3775077"/>
            <a:ext cx="36102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4"/>
              <a:buFont typeface="Calibri"/>
              <a:buNone/>
            </a:pPr>
            <a:r>
              <a:rPr b="0" i="0" lang="pt-BR" sz="108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Baixo CSR (4,9%) mas cobertura nos válidos de 52,8% — poucos testes, porém muito eficazes individualmente.</a:t>
            </a:r>
            <a:endParaRPr b="0" i="0" sz="10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8"/>
          <p:cNvSpPr/>
          <p:nvPr/>
        </p:nvSpPr>
        <p:spPr>
          <a:xfrm>
            <a:off x="4644550" y="3068525"/>
            <a:ext cx="3920400" cy="1457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9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19675" rotWithShape="0" algn="bl" dir="2700000" dist="35902">
              <a:srgbClr val="000000">
                <a:alpha val="21960"/>
              </a:srgbClr>
            </a:outerShdw>
          </a:effectLst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8"/>
          <p:cNvSpPr/>
          <p:nvPr/>
        </p:nvSpPr>
        <p:spPr>
          <a:xfrm>
            <a:off x="5230482" y="3197776"/>
            <a:ext cx="317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25"/>
              <a:buFont typeface="Calibri"/>
              <a:buNone/>
            </a:pPr>
            <a:r>
              <a:rPr b="1" i="0" lang="pt-BR" sz="122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DeepSeek-R1 1.5B — modelo inviável</a:t>
            </a:r>
            <a:endParaRPr b="0" i="0" sz="12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4799653" y="3671687"/>
            <a:ext cx="3610200" cy="216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1975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8"/>
          <p:cNvSpPr/>
          <p:nvPr/>
        </p:nvSpPr>
        <p:spPr>
          <a:xfrm>
            <a:off x="4799650" y="3775075"/>
            <a:ext cx="36102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075" lIns="86150" spcFirstLastPara="1" rIns="86150" wrap="square" tIns="43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4"/>
              <a:buFont typeface="Calibri"/>
              <a:buNone/>
            </a:pPr>
            <a:r>
              <a:rPr b="0" i="0" lang="pt-BR" sz="108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em todas as métricas. Confirma a tese do artigo: modelos muito pequenos não geram Java estruturado o suficiente.</a:t>
            </a:r>
            <a:endParaRPr b="0" i="0" sz="10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0" name="Google Shape;43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781" y="1675868"/>
            <a:ext cx="344662" cy="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9653" y="1675868"/>
            <a:ext cx="344662" cy="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2" name="Google Shape;43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781" y="3223626"/>
            <a:ext cx="344662" cy="344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3" name="Google Shape;433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9653" y="3223626"/>
            <a:ext cx="344662" cy="344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9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9" name="Google Shape;439;p49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Acesso aos modelos originais e custo de API foram a primeira barreira</a:t>
            </a:r>
            <a:endParaRPr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9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Por que não replicamos 100%? - Modelos e custo</a:t>
            </a:r>
            <a:endParaRPr b="1" sz="25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1" name="Google Shape;441;p49"/>
          <p:cNvSpPr/>
          <p:nvPr/>
        </p:nvSpPr>
        <p:spPr>
          <a:xfrm>
            <a:off x="6894300" y="452585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9"/>
          <p:cNvSpPr/>
          <p:nvPr/>
        </p:nvSpPr>
        <p:spPr>
          <a:xfrm>
            <a:off x="600425" y="1450959"/>
            <a:ext cx="3791100" cy="16248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15724" rotWithShape="0" algn="bl" dir="2700000" dist="34717">
              <a:srgbClr val="000000">
                <a:alpha val="21960"/>
              </a:srgbClr>
            </a:outerShdw>
          </a:effectLst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404" y="1600937"/>
            <a:ext cx="333285" cy="33328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9"/>
          <p:cNvSpPr/>
          <p:nvPr/>
        </p:nvSpPr>
        <p:spPr>
          <a:xfrm>
            <a:off x="1167011" y="1575941"/>
            <a:ext cx="3074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85"/>
              <a:buFont typeface="Calibri"/>
              <a:buNone/>
            </a:pPr>
            <a:r>
              <a:rPr b="1" i="0" lang="pt-BR" sz="118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GPT-4 indisponível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9"/>
          <p:cNvSpPr/>
          <p:nvPr/>
        </p:nvSpPr>
        <p:spPr>
          <a:xfrm>
            <a:off x="750404" y="2034210"/>
            <a:ext cx="3491100" cy="207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1575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9"/>
          <p:cNvSpPr/>
          <p:nvPr/>
        </p:nvSpPr>
        <p:spPr>
          <a:xfrm>
            <a:off x="750404" y="2134196"/>
            <a:ext cx="3491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48"/>
              <a:buFont typeface="Calibri"/>
              <a:buNone/>
            </a:pPr>
            <a:r>
              <a:rPr b="0" i="0" lang="pt-BR" sz="104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artigo usa ChatGPT-4 como referência. Custo de API proibitivo para ~7.500 chamadas em escala de replicação.</a:t>
            </a:r>
            <a:endParaRPr b="0" i="0" sz="1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9"/>
          <p:cNvSpPr/>
          <p:nvPr/>
        </p:nvSpPr>
        <p:spPr>
          <a:xfrm>
            <a:off x="4558192" y="1450959"/>
            <a:ext cx="3791100" cy="16248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15724" rotWithShape="0" algn="bl" dir="2700000" dist="34717">
              <a:srgbClr val="000000">
                <a:alpha val="21960"/>
              </a:srgbClr>
            </a:outerShdw>
          </a:effectLst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171" y="1600937"/>
            <a:ext cx="333285" cy="33328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9"/>
          <p:cNvSpPr/>
          <p:nvPr/>
        </p:nvSpPr>
        <p:spPr>
          <a:xfrm>
            <a:off x="5124778" y="1575941"/>
            <a:ext cx="3074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85"/>
              <a:buFont typeface="Calibri"/>
              <a:buNone/>
            </a:pPr>
            <a:r>
              <a:rPr b="1" i="0" lang="pt-BR" sz="118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PD-34B, StarCoder, CodeLlama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4708171" y="2034210"/>
            <a:ext cx="3491100" cy="207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1575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9"/>
          <p:cNvSpPr/>
          <p:nvPr/>
        </p:nvSpPr>
        <p:spPr>
          <a:xfrm>
            <a:off x="4708171" y="2134196"/>
            <a:ext cx="3491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48"/>
              <a:buFont typeface="Calibri"/>
              <a:buNone/>
            </a:pPr>
            <a:r>
              <a:rPr b="0" i="0" lang="pt-BR" sz="104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Modelos do artigo original com 13B–34B parâmetros não estão disponíveis gratuitamente nem rodam no hardware local disponível.</a:t>
            </a:r>
            <a:endParaRPr b="0" i="0" sz="1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600425" y="3242373"/>
            <a:ext cx="3791100" cy="16248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57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15724" rotWithShape="0" algn="bl" dir="2700000" dist="34717">
              <a:srgbClr val="000000">
                <a:alpha val="21960"/>
              </a:srgbClr>
            </a:outerShdw>
          </a:effectLst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404" y="3392352"/>
            <a:ext cx="333285" cy="33328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/>
          <p:nvPr/>
        </p:nvSpPr>
        <p:spPr>
          <a:xfrm>
            <a:off x="1167011" y="3367355"/>
            <a:ext cx="3074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85"/>
              <a:buFont typeface="Calibri"/>
              <a:buNone/>
            </a:pPr>
            <a:r>
              <a:rPr b="1" i="0" lang="pt-BR" sz="118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Substitutos via Groq/Ollama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750404" y="3825624"/>
            <a:ext cx="3491100" cy="20700"/>
          </a:xfrm>
          <a:prstGeom prst="rect">
            <a:avLst/>
          </a:prstGeom>
          <a:solidFill>
            <a:srgbClr val="B45309">
              <a:alpha val="34900"/>
            </a:srgbClr>
          </a:solidFill>
          <a:ln cap="flat" cmpd="sng" w="11575">
            <a:solidFill>
              <a:srgbClr val="B4530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9"/>
          <p:cNvSpPr/>
          <p:nvPr/>
        </p:nvSpPr>
        <p:spPr>
          <a:xfrm>
            <a:off x="750404" y="3925610"/>
            <a:ext cx="3491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48"/>
              <a:buFont typeface="Calibri"/>
              <a:buNone/>
            </a:pPr>
            <a:r>
              <a:rPr b="0" i="0" lang="pt-BR" sz="104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Migramos para modelos open-source menores (1,5B–17B), disponíveis via API gratuita (Groq) ou execução local (Ollama).</a:t>
            </a:r>
            <a:endParaRPr b="0" i="0" sz="1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4558192" y="3242373"/>
            <a:ext cx="3791100" cy="16248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157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15724" rotWithShape="0" algn="bl" dir="2700000" dist="34717">
              <a:srgbClr val="000000">
                <a:alpha val="21960"/>
              </a:srgbClr>
            </a:outerShdw>
          </a:effectLst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8171" y="3392352"/>
            <a:ext cx="333285" cy="33328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9"/>
          <p:cNvSpPr/>
          <p:nvPr/>
        </p:nvSpPr>
        <p:spPr>
          <a:xfrm>
            <a:off x="5124778" y="3367355"/>
            <a:ext cx="3074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85"/>
              <a:buFont typeface="Calibri"/>
              <a:buNone/>
            </a:pPr>
            <a:r>
              <a:rPr b="1" i="0" lang="pt-BR" sz="118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 diário de tokens (Groq TPD)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9"/>
          <p:cNvSpPr/>
          <p:nvPr/>
        </p:nvSpPr>
        <p:spPr>
          <a:xfrm>
            <a:off x="4708171" y="3825624"/>
            <a:ext cx="3491100" cy="20700"/>
          </a:xfrm>
          <a:prstGeom prst="rect">
            <a:avLst/>
          </a:prstGeom>
          <a:solidFill>
            <a:srgbClr val="B45309">
              <a:alpha val="34900"/>
            </a:srgbClr>
          </a:solidFill>
          <a:ln cap="flat" cmpd="sng" w="11575">
            <a:solidFill>
              <a:srgbClr val="B4530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9"/>
          <p:cNvSpPr/>
          <p:nvPr/>
        </p:nvSpPr>
        <p:spPr>
          <a:xfrm>
            <a:off x="4708171" y="3925610"/>
            <a:ext cx="3491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625" lIns="83300" spcFirstLastPara="1" rIns="83300" wrap="square" tIns="41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48"/>
              <a:buFont typeface="Calibri"/>
              <a:buNone/>
            </a:pPr>
            <a:r>
              <a:rPr b="0" i="0" lang="pt-BR" sz="104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Groq impõe limite de tokens por dia </a:t>
            </a:r>
            <a:r>
              <a:rPr lang="pt-BR" sz="1048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pt-BR" sz="104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pipeline implementa rotação de chaves, mas isso forçou execução sequencial em fila.</a:t>
            </a:r>
            <a:endParaRPr b="0" i="0" sz="1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Mesmo com modelos disponíveis, problemas de infraestrutura e parsing reduziram a base avaliável</a:t>
            </a:r>
            <a:endParaRPr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0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Por que não replicamos 100%? - Hardware e técnico</a:t>
            </a:r>
            <a:endParaRPr b="1" sz="25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9" name="Google Shape;469;p50"/>
          <p:cNvSpPr/>
          <p:nvPr/>
        </p:nvSpPr>
        <p:spPr>
          <a:xfrm>
            <a:off x="6894300" y="452585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581475" y="1363125"/>
            <a:ext cx="3952800" cy="1694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0660" rotWithShape="0" algn="bl" dir="2700000" dist="36198">
              <a:srgbClr val="000000">
                <a:alpha val="21960"/>
              </a:srgbClr>
            </a:outerShdw>
          </a:effectLst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1" name="Google Shape;4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850" y="1519500"/>
            <a:ext cx="347500" cy="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0"/>
          <p:cNvSpPr/>
          <p:nvPr/>
        </p:nvSpPr>
        <p:spPr>
          <a:xfrm>
            <a:off x="1172225" y="1493437"/>
            <a:ext cx="320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35"/>
              <a:buFont typeface="Calibri"/>
              <a:buNone/>
            </a:pPr>
            <a:r>
              <a:rPr b="1" i="0" lang="pt-BR" sz="123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Sem A100/H100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0"/>
          <p:cNvSpPr/>
          <p:nvPr/>
        </p:nvSpPr>
        <p:spPr>
          <a:xfrm>
            <a:off x="737850" y="1971250"/>
            <a:ext cx="3639900" cy="216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2050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0"/>
          <p:cNvSpPr/>
          <p:nvPr/>
        </p:nvSpPr>
        <p:spPr>
          <a:xfrm>
            <a:off x="737850" y="2075500"/>
            <a:ext cx="36399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93"/>
              <a:buFont typeface="Calibri"/>
              <a:buNone/>
            </a:pP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4 máquinas disponíveis não têm GPU de data center. Inferência local limitada ao Gemma 3 4B via RTX 3060.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0"/>
          <p:cNvSpPr/>
          <p:nvPr/>
        </p:nvSpPr>
        <p:spPr>
          <a:xfrm>
            <a:off x="4708038" y="1363125"/>
            <a:ext cx="3952800" cy="1694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20660" rotWithShape="0" algn="bl" dir="2700000" dist="36198">
              <a:srgbClr val="000000">
                <a:alpha val="21960"/>
              </a:srgbClr>
            </a:outerShdw>
          </a:effectLst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413" y="1519500"/>
            <a:ext cx="347500" cy="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0"/>
          <p:cNvSpPr/>
          <p:nvPr/>
        </p:nvSpPr>
        <p:spPr>
          <a:xfrm>
            <a:off x="5298788" y="1493437"/>
            <a:ext cx="320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35"/>
              <a:buFont typeface="Calibri"/>
              <a:buNone/>
            </a:pPr>
            <a:r>
              <a:rPr b="1" i="0" lang="pt-BR" sz="123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Defects4J exige Linux/WSL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0"/>
          <p:cNvSpPr/>
          <p:nvPr/>
        </p:nvSpPr>
        <p:spPr>
          <a:xfrm>
            <a:off x="4864413" y="1971250"/>
            <a:ext cx="3639900" cy="21600"/>
          </a:xfrm>
          <a:prstGeom prst="rect">
            <a:avLst/>
          </a:prstGeom>
          <a:solidFill>
            <a:srgbClr val="B45309">
              <a:alpha val="34900"/>
            </a:srgbClr>
          </a:solidFill>
          <a:ln cap="flat" cmpd="sng" w="12050">
            <a:solidFill>
              <a:srgbClr val="B4530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0"/>
          <p:cNvSpPr/>
          <p:nvPr/>
        </p:nvSpPr>
        <p:spPr>
          <a:xfrm>
            <a:off x="4864413" y="2075500"/>
            <a:ext cx="36399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93"/>
              <a:buFont typeface="Calibri"/>
              <a:buNone/>
            </a:pP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Avaliação não roda no Windows </a:t>
            </a:r>
            <a:r>
              <a:rPr lang="pt-BR" sz="109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exigiu configurar um ambiente WSL separado só para compilação e execução dos testes.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0"/>
          <p:cNvSpPr/>
          <p:nvPr/>
        </p:nvSpPr>
        <p:spPr>
          <a:xfrm>
            <a:off x="581475" y="3230937"/>
            <a:ext cx="3952800" cy="1694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0660" rotWithShape="0" algn="bl" dir="2700000" dist="36198">
              <a:srgbClr val="000000">
                <a:alpha val="21960"/>
              </a:srgbClr>
            </a:outerShdw>
          </a:effectLst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1" name="Google Shape;48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850" y="3387312"/>
            <a:ext cx="347500" cy="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0"/>
          <p:cNvSpPr/>
          <p:nvPr/>
        </p:nvSpPr>
        <p:spPr>
          <a:xfrm>
            <a:off x="1172225" y="3361249"/>
            <a:ext cx="320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35"/>
              <a:buFont typeface="Calibri"/>
              <a:buNone/>
            </a:pPr>
            <a:r>
              <a:rPr b="1" i="0" lang="pt-BR" sz="123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'Parameter tuple not found' em 3 modelos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0"/>
          <p:cNvSpPr/>
          <p:nvPr/>
        </p:nvSpPr>
        <p:spPr>
          <a:xfrm>
            <a:off x="737850" y="3839062"/>
            <a:ext cx="3639900" cy="21600"/>
          </a:xfrm>
          <a:prstGeom prst="rect">
            <a:avLst/>
          </a:prstGeom>
          <a:solidFill>
            <a:srgbClr val="DC2626">
              <a:alpha val="34900"/>
            </a:srgbClr>
          </a:solidFill>
          <a:ln cap="flat" cmpd="sng" w="12050">
            <a:solidFill>
              <a:srgbClr val="DC2626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0"/>
          <p:cNvSpPr/>
          <p:nvPr/>
        </p:nvSpPr>
        <p:spPr>
          <a:xfrm>
            <a:off x="737850" y="3943312"/>
            <a:ext cx="36399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93"/>
              <a:buFont typeface="Calibri"/>
              <a:buNone/>
            </a:pP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Erro sistemático de pareamento prompt↔saída afetou ~70% dos prompts em Mistral, DeepSeek e LLaMA </a:t>
            </a:r>
            <a:r>
              <a:rPr lang="pt-BR" sz="109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 estratégia comment_extend foi calibrada para o formato do Gemma e não generaliza para os demais.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0"/>
          <p:cNvSpPr/>
          <p:nvPr/>
        </p:nvSpPr>
        <p:spPr>
          <a:xfrm>
            <a:off x="4708038" y="3230937"/>
            <a:ext cx="3952800" cy="1694100"/>
          </a:xfrm>
          <a:prstGeom prst="roundRect">
            <a:avLst>
              <a:gd fmla="val 5128" name="adj"/>
            </a:avLst>
          </a:prstGeom>
          <a:solidFill>
            <a:srgbClr val="F8FAFC"/>
          </a:solidFill>
          <a:ln cap="flat" cmpd="sng" w="12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20660" rotWithShape="0" algn="bl" dir="2700000" dist="36198">
              <a:srgbClr val="000000">
                <a:alpha val="21960"/>
              </a:srgbClr>
            </a:outerShdw>
          </a:effectLst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4413" y="3387312"/>
            <a:ext cx="347500" cy="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0"/>
          <p:cNvSpPr/>
          <p:nvPr/>
        </p:nvSpPr>
        <p:spPr>
          <a:xfrm>
            <a:off x="5298788" y="3361249"/>
            <a:ext cx="320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35"/>
              <a:buFont typeface="Calibri"/>
              <a:buNone/>
            </a:pPr>
            <a:r>
              <a:rPr b="1" i="0" lang="pt-BR" sz="123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DeepSeek-R1 1.5B: 0% de êxito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0"/>
          <p:cNvSpPr/>
          <p:nvPr/>
        </p:nvSpPr>
        <p:spPr>
          <a:xfrm>
            <a:off x="4864413" y="3839062"/>
            <a:ext cx="3639900" cy="21600"/>
          </a:xfrm>
          <a:prstGeom prst="rect">
            <a:avLst/>
          </a:prstGeom>
          <a:solidFill>
            <a:srgbClr val="64748B">
              <a:alpha val="34900"/>
            </a:srgbClr>
          </a:solidFill>
          <a:ln cap="flat" cmpd="sng" w="12050">
            <a:solidFill>
              <a:srgbClr val="64748B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850" lIns="86850" spcFirstLastPara="1" rIns="86850" wrap="square" tIns="86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0"/>
          <p:cNvSpPr/>
          <p:nvPr/>
        </p:nvSpPr>
        <p:spPr>
          <a:xfrm>
            <a:off x="4864413" y="3943312"/>
            <a:ext cx="36399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25" lIns="86850" spcFirstLastPara="1" rIns="86850" wrap="square" tIns="43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93"/>
              <a:buFont typeface="Calibri"/>
              <a:buNone/>
            </a:pPr>
            <a:r>
              <a:rPr b="0" i="0" lang="pt-BR" sz="109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Gerou 1.517 completions, mas nenhuma compilou — modelo pequeno demais para produzir Java estruturado de forma confiável.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1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5" name="Google Shape;495;p51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 que mudou com modelos pós-2024 em hardware consumer?</a:t>
            </a:r>
            <a:endParaRPr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1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Resultados: Nossa Replicação vs Baseline ASE'24</a:t>
            </a:r>
            <a:endParaRPr b="1" sz="25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7" name="Google Shape;497;p51"/>
          <p:cNvSpPr/>
          <p:nvPr/>
        </p:nvSpPr>
        <p:spPr>
          <a:xfrm>
            <a:off x="6894300" y="452585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51"/>
          <p:cNvSpPr/>
          <p:nvPr/>
        </p:nvSpPr>
        <p:spPr>
          <a:xfrm>
            <a:off x="612700" y="1450938"/>
            <a:ext cx="4023300" cy="274200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1"/>
          <p:cNvSpPr/>
          <p:nvPr/>
        </p:nvSpPr>
        <p:spPr>
          <a:xfrm>
            <a:off x="658420" y="1469226"/>
            <a:ext cx="393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⚠ Referência de ordem de grandeza — prompt ótimo por modelo (ablation RQ1)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" name="Google Shape;500;p51"/>
          <p:cNvGraphicFramePr/>
          <p:nvPr/>
        </p:nvGraphicFramePr>
        <p:xfrm>
          <a:off x="612700" y="1780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{2256844D-A210-42BF-9566-60BE673394F7}</a:tableStyleId>
              </a:tblPr>
              <a:tblGrid>
                <a:gridCol w="1280150"/>
                <a:gridCol w="914400"/>
                <a:gridCol w="914400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0D1B2A"/>
                          </a:solidFill>
                        </a:rPr>
                        <a:t>Modelo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0D1B2A"/>
                          </a:solidFill>
                        </a:rPr>
                        <a:t>CSR%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0D1B2A"/>
                          </a:solidFill>
                        </a:rPr>
                        <a:t>CovL%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0D1B2A"/>
                          </a:solidFill>
                        </a:rPr>
                        <a:t>CovB%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CL-7B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38.2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28.0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25.3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CL-13B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38.9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21.6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20.7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PD-34B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49.1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37.5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32.4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DC-7B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49.2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29.0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23.8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DC-33B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45.7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32.7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29.3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GPT-4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53.0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40.4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31.8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Evosuite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85.7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78.9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pt-BR" sz="1050" u="none" cap="none" strike="noStrike">
                          <a:solidFill>
                            <a:srgbClr val="FFFFFF"/>
                          </a:solidFill>
                        </a:rPr>
                        <a:t>76.6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</a:tbl>
          </a:graphicData>
        </a:graphic>
      </p:graphicFrame>
      <p:sp>
        <p:nvSpPr>
          <p:cNvPr id="501" name="Google Shape;501;p51"/>
          <p:cNvSpPr/>
          <p:nvPr/>
        </p:nvSpPr>
        <p:spPr>
          <a:xfrm>
            <a:off x="4742740" y="1450938"/>
            <a:ext cx="4160400" cy="274200"/>
          </a:xfrm>
          <a:prstGeom prst="rect">
            <a:avLst/>
          </a:prstGeom>
          <a:solidFill>
            <a:srgbClr val="0A1A0A"/>
          </a:solidFill>
          <a:ln cap="flat" cmpd="sng" w="9525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1"/>
          <p:cNvSpPr/>
          <p:nvPr/>
        </p:nvSpPr>
        <p:spPr>
          <a:xfrm>
            <a:off x="4788460" y="1469226"/>
            <a:ext cx="406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✓ Comparação interna válida — prompt fixo uniforme para todos os modelos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3" name="Google Shape;503;p51"/>
          <p:cNvGraphicFramePr/>
          <p:nvPr/>
        </p:nvGraphicFramePr>
        <p:xfrm>
          <a:off x="4742740" y="1780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{2256844D-A210-42BF-9566-60BE673394F7}</a:tableStyleId>
              </a:tblPr>
              <a:tblGrid>
                <a:gridCol w="1417325"/>
                <a:gridCol w="914400"/>
                <a:gridCol w="914400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0D1B2A"/>
                          </a:solidFill>
                        </a:rPr>
                        <a:t>Modelo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0D1B2A"/>
                          </a:solidFill>
                        </a:rPr>
                        <a:t>CSR%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0D1B2A"/>
                          </a:solidFill>
                        </a:rPr>
                        <a:t>CovL%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0D1B2A"/>
                          </a:solidFill>
                        </a:rPr>
                        <a:t>CovB%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C3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535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EF5350"/>
                          </a:solidFill>
                        </a:rPr>
                        <a:t>R1 1.5B ⚠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535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EF5350"/>
                          </a:solidFill>
                        </a:rPr>
                        <a:t>39.6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535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EF5350"/>
                          </a:solidFill>
                        </a:rPr>
                        <a:t>0.0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535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EF5350"/>
                          </a:solidFill>
                        </a:rPr>
                        <a:t>0.0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080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93D8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CE93D8"/>
                          </a:solidFill>
                        </a:rPr>
                        <a:t>Llama 4 17B ★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535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EF5350"/>
                          </a:solidFill>
                        </a:rPr>
                        <a:t>8.0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54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FFD54F"/>
                          </a:solidFill>
                        </a:rPr>
                        <a:t>21.5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54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FFD54F"/>
                          </a:solidFill>
                        </a:rPr>
                        <a:t>17.5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0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00E5FF"/>
                          </a:solidFill>
                        </a:rPr>
                        <a:t>Mistral 7B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25.1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4.3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3.3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C3F7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4FC3F7"/>
                          </a:solidFill>
                        </a:rPr>
                        <a:t>Gemma 3 4B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34.2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15.2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11.6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54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D54F"/>
                          </a:solidFill>
                        </a:rPr>
                        <a:t>R1 8B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54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D54F"/>
                          </a:solidFill>
                        </a:rPr>
                        <a:t>49.2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7.6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pt-BR" sz="950" u="none" cap="none" strike="noStrike">
                          <a:solidFill>
                            <a:srgbClr val="FFFFFF"/>
                          </a:solidFill>
                        </a:rPr>
                        <a:t>5.6</a:t>
                      </a:r>
                      <a:endParaRPr sz="9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1B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42"/>
                    </a:solidFill>
                  </a:tcPr>
                </a:tc>
              </a:tr>
            </a:tbl>
          </a:graphicData>
        </a:graphic>
      </p:graphicFrame>
      <p:sp>
        <p:nvSpPr>
          <p:cNvPr id="504" name="Google Shape;504;p51"/>
          <p:cNvSpPr/>
          <p:nvPr/>
        </p:nvSpPr>
        <p:spPr>
          <a:xfrm>
            <a:off x="4742740" y="3919818"/>
            <a:ext cx="4160400" cy="274200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1"/>
          <p:cNvSpPr/>
          <p:nvPr/>
        </p:nvSpPr>
        <p:spPr>
          <a:xfrm>
            <a:off x="4815892" y="3938106"/>
            <a:ext cx="4005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850"/>
              <a:buFont typeface="Calibri"/>
              <a:buNone/>
            </a:pPr>
            <a:r>
              <a:rPr b="0" i="0" lang="pt-BR" sz="85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⚠ R1 1.5B: muito pequeno para seguir formato Java — efeito de tamanho confirmado (0 testes compiláveis em 777)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2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1" name="Google Shape;511;p52"/>
          <p:cNvSpPr/>
          <p:nvPr/>
        </p:nvSpPr>
        <p:spPr>
          <a:xfrm>
            <a:off x="524225" y="979125"/>
            <a:ext cx="801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CovL (%) — o que podemos e não podemos afirmar</a:t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2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Como Ler Esta Comparação: Válido vs Referência</a:t>
            </a:r>
            <a:endParaRPr b="1" sz="25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3" name="Google Shape;513;p52"/>
          <p:cNvSpPr/>
          <p:nvPr/>
        </p:nvSpPr>
        <p:spPr>
          <a:xfrm>
            <a:off x="6894300" y="4525850"/>
            <a:ext cx="2038200" cy="5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52"/>
          <p:cNvSpPr/>
          <p:nvPr/>
        </p:nvSpPr>
        <p:spPr>
          <a:xfrm>
            <a:off x="624175" y="1380624"/>
            <a:ext cx="192600" cy="192600"/>
          </a:xfrm>
          <a:prstGeom prst="rect">
            <a:avLst/>
          </a:prstGeom>
          <a:solidFill>
            <a:srgbClr val="CE93D8"/>
          </a:solidFill>
          <a:ln cap="flat" cmpd="sng" w="12175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dk1"/>
              </a:solidFill>
            </a:endParaRPr>
          </a:p>
        </p:txBody>
      </p:sp>
      <p:sp>
        <p:nvSpPr>
          <p:cNvPr id="515" name="Google Shape;515;p52"/>
          <p:cNvSpPr/>
          <p:nvPr/>
        </p:nvSpPr>
        <p:spPr>
          <a:xfrm>
            <a:off x="869161" y="1363125"/>
            <a:ext cx="2380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13"/>
              <a:buFont typeface="Calibri"/>
              <a:buNone/>
            </a:pPr>
            <a:r>
              <a:rPr b="0" i="0" lang="pt-BR" sz="8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Nossa replicação — prompt fixo uniforme (comparação válida entre si)</a:t>
            </a:r>
            <a:endParaRPr b="0" i="0" sz="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2"/>
          <p:cNvSpPr/>
          <p:nvPr/>
        </p:nvSpPr>
        <p:spPr>
          <a:xfrm>
            <a:off x="3292777" y="1380624"/>
            <a:ext cx="192600" cy="192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dk1"/>
              </a:solidFill>
            </a:endParaRPr>
          </a:p>
        </p:txBody>
      </p:sp>
      <p:sp>
        <p:nvSpPr>
          <p:cNvPr id="517" name="Google Shape;517;p52"/>
          <p:cNvSpPr/>
          <p:nvPr/>
        </p:nvSpPr>
        <p:spPr>
          <a:xfrm>
            <a:off x="3537763" y="1363125"/>
            <a:ext cx="2380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13"/>
              <a:buFont typeface="Calibri"/>
              <a:buNone/>
            </a:pPr>
            <a:r>
              <a:rPr b="0" i="0" lang="pt-BR" sz="8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ASE'24 baseline ⚠ — prompt ótimo por modelo (referência de grandeza, não comparável diretamente)</a:t>
            </a:r>
            <a:endParaRPr b="0" i="0" sz="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2"/>
          <p:cNvSpPr/>
          <p:nvPr/>
        </p:nvSpPr>
        <p:spPr>
          <a:xfrm>
            <a:off x="5961378" y="1380624"/>
            <a:ext cx="192600" cy="192600"/>
          </a:xfrm>
          <a:prstGeom prst="rect">
            <a:avLst/>
          </a:prstGeom>
          <a:solidFill>
            <a:srgbClr val="66BB6A"/>
          </a:solidFill>
          <a:ln cap="flat" cmpd="sng" w="12175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dk1"/>
              </a:solidFill>
            </a:endParaRPr>
          </a:p>
        </p:txBody>
      </p:sp>
      <p:sp>
        <p:nvSpPr>
          <p:cNvPr id="519" name="Google Shape;519;p52"/>
          <p:cNvSpPr/>
          <p:nvPr/>
        </p:nvSpPr>
        <p:spPr>
          <a:xfrm>
            <a:off x="6206364" y="1363125"/>
            <a:ext cx="2380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13"/>
              <a:buFont typeface="Calibri"/>
              <a:buNone/>
            </a:pPr>
            <a:r>
              <a:rPr b="0" i="0" lang="pt-BR" sz="8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EvoSuite — teto da abordagem tradicional (válido comparar)</a:t>
            </a:r>
            <a:endParaRPr b="0" i="0" sz="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2"/>
          <p:cNvSpPr/>
          <p:nvPr/>
        </p:nvSpPr>
        <p:spPr>
          <a:xfrm>
            <a:off x="624175" y="1643110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 1.5B ⚠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2"/>
          <p:cNvSpPr/>
          <p:nvPr/>
        </p:nvSpPr>
        <p:spPr>
          <a:xfrm>
            <a:off x="1779111" y="1678108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22" name="Google Shape;522;p52"/>
          <p:cNvSpPr/>
          <p:nvPr/>
        </p:nvSpPr>
        <p:spPr>
          <a:xfrm>
            <a:off x="1849107" y="1643110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2"/>
          <p:cNvSpPr/>
          <p:nvPr/>
        </p:nvSpPr>
        <p:spPr>
          <a:xfrm>
            <a:off x="624175" y="1931844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7B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52"/>
          <p:cNvSpPr/>
          <p:nvPr/>
        </p:nvSpPr>
        <p:spPr>
          <a:xfrm>
            <a:off x="1779111" y="1966842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25" name="Google Shape;525;p52"/>
          <p:cNvSpPr/>
          <p:nvPr/>
        </p:nvSpPr>
        <p:spPr>
          <a:xfrm>
            <a:off x="1779111" y="1966842"/>
            <a:ext cx="331800" cy="183600"/>
          </a:xfrm>
          <a:prstGeom prst="rect">
            <a:avLst/>
          </a:prstGeom>
          <a:solidFill>
            <a:srgbClr val="00E5FF"/>
          </a:solidFill>
          <a:ln cap="flat" cmpd="sng" w="1217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26" name="Google Shape;526;p52"/>
          <p:cNvSpPr/>
          <p:nvPr/>
        </p:nvSpPr>
        <p:spPr>
          <a:xfrm>
            <a:off x="2163575" y="1931844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2"/>
          <p:cNvSpPr/>
          <p:nvPr/>
        </p:nvSpPr>
        <p:spPr>
          <a:xfrm>
            <a:off x="624175" y="2220579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 8B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2"/>
          <p:cNvSpPr/>
          <p:nvPr/>
        </p:nvSpPr>
        <p:spPr>
          <a:xfrm>
            <a:off x="1779111" y="2255577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29" name="Google Shape;529;p52"/>
          <p:cNvSpPr/>
          <p:nvPr/>
        </p:nvSpPr>
        <p:spPr>
          <a:xfrm>
            <a:off x="1779111" y="2255577"/>
            <a:ext cx="586800" cy="183600"/>
          </a:xfrm>
          <a:prstGeom prst="rect">
            <a:avLst/>
          </a:prstGeom>
          <a:solidFill>
            <a:srgbClr val="FFD54F"/>
          </a:solidFill>
          <a:ln cap="flat" cmpd="sng" w="12175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2418340" y="2220579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7.6%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624175" y="2509313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Gemma3 4B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1779111" y="2544311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1779111" y="2544311"/>
            <a:ext cx="1173300" cy="183600"/>
          </a:xfrm>
          <a:prstGeom prst="rect">
            <a:avLst/>
          </a:prstGeom>
          <a:solidFill>
            <a:srgbClr val="4FC3F7"/>
          </a:solidFill>
          <a:ln cap="flat" cmpd="sng" w="1217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34" name="Google Shape;534;p52"/>
          <p:cNvSpPr/>
          <p:nvPr/>
        </p:nvSpPr>
        <p:spPr>
          <a:xfrm>
            <a:off x="3005072" y="2509313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15.2%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2"/>
          <p:cNvSpPr/>
          <p:nvPr/>
        </p:nvSpPr>
        <p:spPr>
          <a:xfrm>
            <a:off x="624175" y="2798048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Llama4 17B ★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2"/>
          <p:cNvSpPr/>
          <p:nvPr/>
        </p:nvSpPr>
        <p:spPr>
          <a:xfrm>
            <a:off x="1779111" y="2833046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37" name="Google Shape;537;p52"/>
          <p:cNvSpPr/>
          <p:nvPr/>
        </p:nvSpPr>
        <p:spPr>
          <a:xfrm>
            <a:off x="1779111" y="2833046"/>
            <a:ext cx="1659900" cy="183600"/>
          </a:xfrm>
          <a:prstGeom prst="rect">
            <a:avLst/>
          </a:prstGeom>
          <a:solidFill>
            <a:srgbClr val="CE93D8"/>
          </a:solidFill>
          <a:ln cap="flat" cmpd="sng" w="12175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38" name="Google Shape;538;p52"/>
          <p:cNvSpPr/>
          <p:nvPr/>
        </p:nvSpPr>
        <p:spPr>
          <a:xfrm>
            <a:off x="3491442" y="2798048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21.5%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2"/>
          <p:cNvSpPr/>
          <p:nvPr/>
        </p:nvSpPr>
        <p:spPr>
          <a:xfrm>
            <a:off x="624175" y="3086782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CL-13B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2"/>
          <p:cNvSpPr/>
          <p:nvPr/>
        </p:nvSpPr>
        <p:spPr>
          <a:xfrm>
            <a:off x="1779111" y="3121780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41" name="Google Shape;541;p52"/>
          <p:cNvSpPr/>
          <p:nvPr/>
        </p:nvSpPr>
        <p:spPr>
          <a:xfrm>
            <a:off x="1779111" y="3121780"/>
            <a:ext cx="16677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42" name="Google Shape;542;p52"/>
          <p:cNvSpPr/>
          <p:nvPr/>
        </p:nvSpPr>
        <p:spPr>
          <a:xfrm>
            <a:off x="3499162" y="3086782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21.6%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2"/>
          <p:cNvSpPr/>
          <p:nvPr/>
        </p:nvSpPr>
        <p:spPr>
          <a:xfrm>
            <a:off x="624175" y="3375517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CL-7B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2"/>
          <p:cNvSpPr/>
          <p:nvPr/>
        </p:nvSpPr>
        <p:spPr>
          <a:xfrm>
            <a:off x="1779111" y="3410515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45" name="Google Shape;545;p52"/>
          <p:cNvSpPr/>
          <p:nvPr/>
        </p:nvSpPr>
        <p:spPr>
          <a:xfrm>
            <a:off x="1779111" y="3410515"/>
            <a:ext cx="21615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46" name="Google Shape;546;p52"/>
          <p:cNvSpPr/>
          <p:nvPr/>
        </p:nvSpPr>
        <p:spPr>
          <a:xfrm>
            <a:off x="3993252" y="3375517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2"/>
          <p:cNvSpPr/>
          <p:nvPr/>
        </p:nvSpPr>
        <p:spPr>
          <a:xfrm>
            <a:off x="624175" y="3664251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DC-7B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2"/>
          <p:cNvSpPr/>
          <p:nvPr/>
        </p:nvSpPr>
        <p:spPr>
          <a:xfrm>
            <a:off x="1779111" y="3699249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49" name="Google Shape;549;p52"/>
          <p:cNvSpPr/>
          <p:nvPr/>
        </p:nvSpPr>
        <p:spPr>
          <a:xfrm>
            <a:off x="1779111" y="3699249"/>
            <a:ext cx="22389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50" name="Google Shape;550;p52"/>
          <p:cNvSpPr/>
          <p:nvPr/>
        </p:nvSpPr>
        <p:spPr>
          <a:xfrm>
            <a:off x="4070454" y="3664251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29%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2"/>
          <p:cNvSpPr/>
          <p:nvPr/>
        </p:nvSpPr>
        <p:spPr>
          <a:xfrm>
            <a:off x="624175" y="3952985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DC-33B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2"/>
          <p:cNvSpPr/>
          <p:nvPr/>
        </p:nvSpPr>
        <p:spPr>
          <a:xfrm>
            <a:off x="1779111" y="3987984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53" name="Google Shape;553;p52"/>
          <p:cNvSpPr/>
          <p:nvPr/>
        </p:nvSpPr>
        <p:spPr>
          <a:xfrm>
            <a:off x="1779111" y="3987984"/>
            <a:ext cx="25245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54" name="Google Shape;554;p52"/>
          <p:cNvSpPr/>
          <p:nvPr/>
        </p:nvSpPr>
        <p:spPr>
          <a:xfrm>
            <a:off x="4356100" y="3952985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32.7%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2"/>
          <p:cNvSpPr/>
          <p:nvPr/>
        </p:nvSpPr>
        <p:spPr>
          <a:xfrm>
            <a:off x="624175" y="4241720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PD-34B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2"/>
          <p:cNvSpPr/>
          <p:nvPr/>
        </p:nvSpPr>
        <p:spPr>
          <a:xfrm>
            <a:off x="1779111" y="4276718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57" name="Google Shape;557;p52"/>
          <p:cNvSpPr/>
          <p:nvPr/>
        </p:nvSpPr>
        <p:spPr>
          <a:xfrm>
            <a:off x="1779111" y="4276718"/>
            <a:ext cx="28950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58" name="Google Shape;558;p52"/>
          <p:cNvSpPr/>
          <p:nvPr/>
        </p:nvSpPr>
        <p:spPr>
          <a:xfrm>
            <a:off x="4726667" y="4241720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37.5%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2"/>
          <p:cNvSpPr/>
          <p:nvPr/>
        </p:nvSpPr>
        <p:spPr>
          <a:xfrm>
            <a:off x="624175" y="4530454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 ◆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2"/>
          <p:cNvSpPr/>
          <p:nvPr/>
        </p:nvSpPr>
        <p:spPr>
          <a:xfrm>
            <a:off x="1779111" y="4565452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61" name="Google Shape;561;p52"/>
          <p:cNvSpPr/>
          <p:nvPr/>
        </p:nvSpPr>
        <p:spPr>
          <a:xfrm>
            <a:off x="1779111" y="4565452"/>
            <a:ext cx="3118800" cy="183600"/>
          </a:xfrm>
          <a:prstGeom prst="rect">
            <a:avLst/>
          </a:prstGeom>
          <a:solidFill>
            <a:srgbClr val="607080"/>
          </a:solidFill>
          <a:ln cap="flat" cmpd="sng" w="12175">
            <a:solidFill>
              <a:srgbClr val="607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4950552" y="4530454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61"/>
              <a:buFont typeface="Calibri"/>
              <a:buNone/>
            </a:pPr>
            <a:r>
              <a:rPr b="0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40.4%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624175" y="4819189"/>
            <a:ext cx="11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1" i="0" lang="pt-BR" sz="8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EvoSuite</a:t>
            </a:r>
            <a:endParaRPr b="0" i="0" sz="8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1779111" y="4854187"/>
            <a:ext cx="6561900" cy="183600"/>
          </a:xfrm>
          <a:prstGeom prst="rect">
            <a:avLst/>
          </a:prstGeom>
          <a:solidFill>
            <a:srgbClr val="1A2D42"/>
          </a:solidFill>
          <a:ln cap="flat" cmpd="sng" w="12175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1779111" y="4854187"/>
            <a:ext cx="6091200" cy="183600"/>
          </a:xfrm>
          <a:prstGeom prst="rect">
            <a:avLst/>
          </a:prstGeom>
          <a:solidFill>
            <a:srgbClr val="66BB6A"/>
          </a:solidFill>
          <a:ln cap="flat" cmpd="sng" w="12175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lt1"/>
              </a:solidFill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7922813" y="4819189"/>
            <a:ext cx="525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DF0"/>
              </a:buClr>
              <a:buSzPts val="861"/>
              <a:buFont typeface="Calibri"/>
              <a:buNone/>
            </a:pPr>
            <a:r>
              <a:rPr b="1" i="0" lang="pt-BR" sz="86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78.9%</a:t>
            </a:r>
            <a:endParaRPr b="0" i="0" sz="86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2"/>
          <p:cNvSpPr/>
          <p:nvPr/>
        </p:nvSpPr>
        <p:spPr>
          <a:xfrm>
            <a:off x="624175" y="3069283"/>
            <a:ext cx="8005800" cy="26100"/>
          </a:xfrm>
          <a:prstGeom prst="rect">
            <a:avLst/>
          </a:prstGeom>
          <a:solidFill>
            <a:srgbClr val="FFD54F"/>
          </a:solidFill>
          <a:ln cap="flat" cmpd="sng" w="12175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chemeClr val="dk1"/>
              </a:solidFill>
            </a:endParaRPr>
          </a:p>
        </p:txBody>
      </p:sp>
      <p:sp>
        <p:nvSpPr>
          <p:cNvPr id="568" name="Google Shape;568;p52"/>
          <p:cNvSpPr/>
          <p:nvPr/>
        </p:nvSpPr>
        <p:spPr>
          <a:xfrm>
            <a:off x="624175" y="2981755"/>
            <a:ext cx="80058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25" lIns="87500" spcFirstLastPara="1" rIns="87500" wrap="square" tIns="43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765"/>
              <a:buFont typeface="Calibri"/>
              <a:buNone/>
            </a:pPr>
            <a:r>
              <a:rPr b="0" i="0" lang="pt-BR" sz="765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⚠ abaixo: prompt ótimo por modelo (ablation) — referência, não comparação direta</a:t>
            </a:r>
            <a:endParaRPr b="0" i="0" sz="765" u="none" cap="none" strike="noStrike">
              <a:solidFill>
                <a:srgbClr val="B453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3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480049" y="342900"/>
            <a:ext cx="7813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1" sz="25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597475" y="891300"/>
            <a:ext cx="8047800" cy="960000"/>
          </a:xfrm>
          <a:prstGeom prst="roundRect">
            <a:avLst>
              <a:gd fmla="val 11429" name="adj"/>
            </a:avLst>
          </a:prstGeom>
          <a:solidFill>
            <a:srgbClr val="EEF2F7"/>
          </a:solidFill>
          <a:ln cap="flat" cmpd="sng" w="19050">
            <a:solidFill>
              <a:srgbClr val="0F717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6" name="Google Shape;57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917" y="1132092"/>
            <a:ext cx="43736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3"/>
          <p:cNvSpPr/>
          <p:nvPr/>
        </p:nvSpPr>
        <p:spPr>
          <a:xfrm>
            <a:off x="1341002" y="927876"/>
            <a:ext cx="71730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Executamos o pipeline completo (inferência + avaliação) para 5 modelos em 1</a:t>
            </a:r>
            <a:r>
              <a:rPr lang="pt-BR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b="0" i="0" lang="pt-BR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projetos, gerando ~7.582 testes e medindo CSR, cobertura e detecção de defeitos</a:t>
            </a:r>
            <a:r>
              <a:rPr lang="pt-BR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3"/>
          <p:cNvSpPr/>
          <p:nvPr/>
        </p:nvSpPr>
        <p:spPr>
          <a:xfrm>
            <a:off x="597475" y="2006200"/>
            <a:ext cx="3840600" cy="2367000"/>
          </a:xfrm>
          <a:prstGeom prst="roundRect">
            <a:avLst>
              <a:gd fmla="val 3636" name="adj"/>
            </a:avLst>
          </a:prstGeom>
          <a:solidFill>
            <a:srgbClr val="F8FAFC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3"/>
          <p:cNvSpPr/>
          <p:nvPr/>
        </p:nvSpPr>
        <p:spPr>
          <a:xfrm>
            <a:off x="597475" y="228055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O que conseguimos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3"/>
          <p:cNvSpPr/>
          <p:nvPr/>
        </p:nvSpPr>
        <p:spPr>
          <a:xfrm>
            <a:off x="789925" y="2764351"/>
            <a:ext cx="38406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Pipeline end-to-end funcionando (3 estágios)</a:t>
            </a:r>
            <a:b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2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modelos, 16 projetos, ~7.582 testes gerados</a:t>
            </a:r>
            <a:b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2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Métricas reais: CSR, CovL, CovB e NDD</a:t>
            </a:r>
            <a:b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2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Tendências alinhadas ao artigo (CSR vs cobertura)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3"/>
          <p:cNvSpPr/>
          <p:nvPr/>
        </p:nvSpPr>
        <p:spPr>
          <a:xfrm>
            <a:off x="4793700" y="2006200"/>
            <a:ext cx="3840600" cy="2367000"/>
          </a:xfrm>
          <a:prstGeom prst="roundRect">
            <a:avLst>
              <a:gd fmla="val 3636" name="adj"/>
            </a:avLst>
          </a:prstGeom>
          <a:solidFill>
            <a:srgbClr val="F8FAFC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3"/>
          <p:cNvSpPr/>
          <p:nvPr/>
        </p:nvSpPr>
        <p:spPr>
          <a:xfrm>
            <a:off x="4793699" y="228055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O que falta para 100%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3"/>
          <p:cNvSpPr/>
          <p:nvPr/>
        </p:nvSpPr>
        <p:spPr>
          <a:xfrm>
            <a:off x="4868564" y="2575550"/>
            <a:ext cx="36576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pt-B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Ablação de prompts (RQ1) </a:t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br>
              <a:rPr b="0" i="0" lang="pt-BR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pt-B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CoT(RQ3) </a:t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br>
              <a:rPr lang="pt-B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(RQ3)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5715" y="2280515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5" name="Google Shape;585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0990" y="2280515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Replicação do LLM4UT </a:t>
            </a:r>
            <a:endParaRPr b="1"/>
          </a:p>
        </p:txBody>
      </p:sp>
      <p:sp>
        <p:nvSpPr>
          <p:cNvPr id="591" name="Google Shape;591;p54"/>
          <p:cNvSpPr txBox="1"/>
          <p:nvPr>
            <p:ph idx="1" type="subTitle"/>
          </p:nvPr>
        </p:nvSpPr>
        <p:spPr>
          <a:xfrm>
            <a:off x="6234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Artigo Base: </a:t>
            </a:r>
            <a:r>
              <a:rPr b="1" lang="pt-BR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On the Evaluation of Large Language Models in Unit Test Generation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290"/>
          </a:p>
        </p:txBody>
      </p:sp>
      <p:sp>
        <p:nvSpPr>
          <p:cNvPr id="592" name="Google Shape;592;p54"/>
          <p:cNvSpPr txBox="1"/>
          <p:nvPr/>
        </p:nvSpPr>
        <p:spPr>
          <a:xfrm>
            <a:off x="614925" y="3068850"/>
            <a:ext cx="551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Letícia Rose de Santana Lopes - lrsl</a:t>
            </a:r>
            <a:endParaRPr sz="1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Maria Gabriela Alves Zuppardo - mgaz</a:t>
            </a:r>
            <a:endParaRPr sz="1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Thiago Henrique Lopes da Silva - thls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93" name="Google Shape;593;p54"/>
          <p:cNvSpPr txBox="1"/>
          <p:nvPr/>
        </p:nvSpPr>
        <p:spPr>
          <a:xfrm>
            <a:off x="7827300" y="4820400"/>
            <a:ext cx="506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u="sng">
                <a:solidFill>
                  <a:schemeClr val="hlink"/>
                </a:solidFill>
                <a:hlinkClick r:id="rId4"/>
              </a:rPr>
              <a:t>Repositório do projeto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Evolução Semanal</a:t>
            </a:r>
            <a:r>
              <a:rPr lang="pt-BR"/>
              <a:t>: 19/04 - 25/04</a:t>
            </a:r>
            <a:endParaRPr/>
          </a:p>
        </p:txBody>
      </p:sp>
      <p:sp>
        <p:nvSpPr>
          <p:cNvPr id="599" name="Google Shape;59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Definição do artigo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Brainstorm de estratégias de replicação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Discussão sobre limitações computacionais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Evolução Semanal</a:t>
            </a:r>
            <a:r>
              <a:rPr lang="pt-BR"/>
              <a:t>: 10/05 - 16/05</a:t>
            </a:r>
            <a:endParaRPr/>
          </a:p>
        </p:txBody>
      </p:sp>
      <p:sp>
        <p:nvSpPr>
          <p:cNvPr id="605" name="Google Shape;60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Definição do escopo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Apresentação da proposta ao professor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Escolha da abordagem de replicação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7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Evolução Semanal</a:t>
            </a:r>
            <a:r>
              <a:rPr lang="pt-BR"/>
              <a:t>: 17/05 - 20/05</a:t>
            </a:r>
            <a:endParaRPr/>
          </a:p>
        </p:txBody>
      </p:sp>
      <p:sp>
        <p:nvSpPr>
          <p:cNvPr id="611" name="Google Shape;61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Definição da arquitetura da replicação ( 2x SLM X 2x LLMs)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Análise do artigo </a:t>
            </a:r>
            <a:r>
              <a:rPr lang="pt-BR" sz="1871">
                <a:solidFill>
                  <a:schemeClr val="dk1"/>
                </a:solidFill>
                <a:highlight>
                  <a:srgbClr val="FFFFFF"/>
                </a:highlight>
              </a:rPr>
              <a:t>Detecção de Conflitos Semânticos com Testes Gerados por LLM </a:t>
            </a:r>
            <a:r>
              <a:rPr lang="pt-BR"/>
              <a:t>(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https://arxiv.org/abs/2507.06762</a:t>
            </a:r>
            <a:r>
              <a:rPr lang="pt-BR"/>
              <a:t>) para seleção dos modelos</a:t>
            </a:r>
            <a:r>
              <a:rPr b="1" lang="pt-BR"/>
              <a:t> pós 2024</a:t>
            </a:r>
            <a:r>
              <a:rPr lang="pt-BR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Definição dos modelos para cada um dos integrantes do grupo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Estudo para definição de Dockerização do ambiente 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Preparação do ambiente experimental local utilizando Windows + WSL2, com integração do Defects4J, Java 11 e Ollama.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Reprodução do pipeline do LLM4UT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Substituição dos modelos originais do artigo por um modelo aberto executado localmente: Gemma 3 4B;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Reconstrução dos coletores de dados a partir da descrição do artigo, que não foram disponibilizados em código.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Integração com Ollama + Gemma 3 4B.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Repositório: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LLM4UT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